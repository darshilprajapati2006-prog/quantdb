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respected professors and evaluators.</a:t>
            </a:r>
          </a:p>
          <a:p>
            <a:r>
              <a:t>Today, I am presenting QuantDB — a database-driven quantitative finance research and simulated trading platform developed as our Semester-3 DBMS Lab Project at SVNIT Surat.</a:t>
            </a:r>
          </a:p>
          <a:p/>
          <a:p>
            <a:r>
              <a:t>In this project, we bridge core database management principles with real-world quantitative finance. Financial research requires organizing complex, interrelated entities: securities, multi-timestamp market data, simulated orders, executed trades, portfolios, and backtest results.</a:t>
            </a:r>
          </a:p>
          <a:p>
            <a:r>
              <a:t>Instead of relying on isolated scripts or flat CSV files, QuantDB implements a fully normalized MySQL relational database with referential integrity, ACID transaction management, indexes, triggers, and stored procedures, integrated with a Python quantitative analytics engine and an interactive Streamlit terminal.</a:t>
            </a:r>
          </a:p>
          <a:p>
            <a:r>
              <a:t>Let us examine the problem statement that motivated this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financial analytics, data integrity is paramount. If you run a strategy simulation on corrupted market data or phantom portfolio balances, your entire risk assessment is invalid.</a:t>
            </a:r>
          </a:p>
          <a:p>
            <a:r>
              <a:t>In typical academic setups, students use CSV files. But CSVs have no referential integrity, no ACID guarantees, and cause severe update anomalies.</a:t>
            </a:r>
          </a:p>
          <a:p>
            <a:r>
              <a:t>If an order executes, three things must happen simultaneously: the order status becomes FILLED, a trade record is created, and the portfolio cash balance is decremented. If the system crashes halfway, a flat-file system leaves an inconsistent state.</a:t>
            </a:r>
          </a:p>
          <a:p>
            <a:r>
              <a:t>A relational database with InnoDB row-level locking and foreign key cascades solves this completely.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project objectives are structured around four pillars:</a:t>
            </a:r>
          </a:p>
          <a:p>
            <a:r>
              <a:t>1. Centralized Relational Schema &amp; Normalization up to 3NF.</a:t>
            </a:r>
          </a:p>
          <a:p>
            <a:r>
              <a:t>2. Declarative Integrity Constraints, complex SQL operations, and performance tuning using B+ Tree indexes.</a:t>
            </a:r>
          </a:p>
          <a:p>
            <a:r>
              <a:t>3. Database Programmability using Stored Procedures, Functions, Triggers, and ACID transaction control with row-level locks.</a:t>
            </a:r>
          </a:p>
          <a:p>
            <a:r>
              <a:t>4. Python Quantitative Analytics integration, connecting the MySQL backend to an interactive Streamlit terminal.</a:t>
            </a:r>
          </a:p>
          <a:p>
            <a:r>
              <a:t>Notice that each objective directly addresses a concept evaluated in our Semester 3 DBMS curriculum.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us establish the real-world domain context.</a:t>
            </a:r>
          </a:p>
          <a:p>
            <a:r>
              <a:t>In quantitative hedge funds and trading firms, researchers don't just write algorithms — they rely on high-performance data systems to validate their hypotheses.</a:t>
            </a:r>
          </a:p>
          <a:p>
            <a:r>
              <a:t>QuantDB models the entire quantitative research lifecycle:</a:t>
            </a:r>
          </a:p>
          <a:p>
            <a:r>
              <a:t>1. Ingesting and validating OHLCV market data and microstructure quotes.</a:t>
            </a:r>
          </a:p>
          <a:p>
            <a:r>
              <a:t>2. Backtesting mathematical trading strategies across historical time horizons.</a:t>
            </a:r>
          </a:p>
          <a:p>
            <a:r>
              <a:t>3. Paper trading in simulated portfolios to track cash, positions, and risk metrics like Sharpe Ratio and Maximum Drawdown.</a:t>
            </a:r>
          </a:p>
          <a:p>
            <a:r>
              <a:t>Crucially, as highlighted in the banner, this is an academic research platform. There is no real-money execution or live brokerage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Regarding user roles, we strictly adhere to what is actually implemented in the database schema.</a:t>
            </a:r>
          </a:p>
          <a:p>
            <a:r>
              <a:t>In MySQL table `users`, the `role` column is enforced by an ENUM constraint containing ADMIN, QUANT_RESEARCHER, SIMULATED_TRADER, and QUANT_DEVELOPER.</a:t>
            </a:r>
          </a:p>
          <a:p>
            <a:r>
              <a:t>Each role maps to specific operational workflows:</a:t>
            </a:r>
          </a:p>
          <a:p>
            <a:r>
              <a:t>- Admins manage the security and exchange catalogs.</a:t>
            </a:r>
          </a:p>
          <a:p>
            <a:r>
              <a:t>- Researchers build strategies and execute backtests.</a:t>
            </a:r>
          </a:p>
          <a:p>
            <a:r>
              <a:t>- Traders execute simulated paper orders and monitor portfolios.</a:t>
            </a:r>
          </a:p>
          <a:p>
            <a:r>
              <a:t>Additionally, the database includes an `email_otps` table for secure registration and verification. We do not claim external OAuth integrations that do not exist; our authorization is built directly on MySQL schema constraints and password hashing.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functional requirements matrix demonstrates how our software features are directly tied to database constraints.</a:t>
            </a:r>
          </a:p>
          <a:p>
            <a:r>
              <a:t>For example:</a:t>
            </a:r>
          </a:p>
          <a:p>
            <a:r>
              <a:t>- In Data Management, the market_data entity enforces a composite unique constraint on security_id and timestamp, preventing duplicate tick records.</a:t>
            </a:r>
          </a:p>
          <a:p>
            <a:r>
              <a:t>- In Trading Simulation, orders enforce quantity &gt; 0, and inserting a trade automatically triggers an update to the order's status.</a:t>
            </a:r>
          </a:p>
          <a:p>
            <a:r>
              <a:t>- In Quantitative Analytics, the risk_metrics table enforces an exclusive OR (XOR) constraint: each record must link to EITHER a portfolio OR a backtest, but never both.</a:t>
            </a:r>
          </a:p>
          <a:p>
            <a:r>
              <a:t>Every functional requirement is backed by database-level integrity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System Architecture. It follows a clean five-layer structure:</a:t>
            </a:r>
          </a:p>
          <a:p>
            <a:r>
              <a:t>At the top is the Presentation Layer built in Streamlit.</a:t>
            </a:r>
          </a:p>
          <a:p>
            <a:r>
              <a:t>Below that is the Service and Provider Layer. We implemented a Provider Factory pattern that allows running in either 'Real' mode connected to MySQL, or 'Mock' mode for offline testing.</a:t>
            </a:r>
          </a:p>
          <a:p>
            <a:r>
              <a:t>The third layer is our Python Quantitative Analytics engine, which vectorizes financial calculations.</a:t>
            </a:r>
          </a:p>
          <a:p>
            <a:r>
              <a:t>The fourth layer is the Database Repository in `src/database/queries.py`, which exclusively uses parameterized SQL queries to eliminate SQL injection vulnerabilities.</a:t>
            </a:r>
          </a:p>
          <a:p>
            <a:r>
              <a:t>At the foundation is MySQL 8.x with the InnoDB engine.</a:t>
            </a:r>
          </a:p>
          <a:p>
            <a:r>
              <a:t>When a user runs a backtest, the 5-step flow shown on the right executes cleanly without tight coupling between UI and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Entity-Relationship model encompasses 12 core tables organized into four cohesive clusters:</a:t>
            </a:r>
          </a:p>
          <a:p>
            <a:r>
              <a:t>1. The Market Data Cluster: Exchanges have a 1-to-N relationship with Securities, and Securities have a 1-to-N relationship with Market Data ticks.</a:t>
            </a:r>
          </a:p>
          <a:p>
            <a:r>
              <a:t>2. The Trading Cluster: Users place Orders on Securities. When filled, an Order has a 1-to-1 relationship with an executed Trade record.</a:t>
            </a:r>
          </a:p>
          <a:p>
            <a:r>
              <a:t>3. The Portfolio Cluster: A User can own multiple Portfolios. Each Portfolio has a 1-to-N relationship with Positions, uniquely keyed on portfolio_id and security_id.</a:t>
            </a:r>
          </a:p>
          <a:p>
            <a:r>
              <a:t>4. The Strategy and Analytics Cluster: Users author Strategies, which are run across date ranges as Backtests. Each Backtest produces a 1-to-1 Backtest Result.</a:t>
            </a:r>
          </a:p>
          <a:p>
            <a:r>
              <a:t>All cardinalities follow standard crow's foot notation and match our actual MySQL DDL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details the translation from our conceptual ER diagram into physical MySQL relational tables.</a:t>
            </a:r>
          </a:p>
          <a:p>
            <a:r>
              <a:t>Every table uses an auto-incrementing surrogate primary key of type BIGINT to optimize B+ tree index depth and joins.</a:t>
            </a:r>
          </a:p>
          <a:p>
            <a:r>
              <a:t>Foreign keys maintain strict referential integrity across the system.</a:t>
            </a:r>
          </a:p>
          <a:p>
            <a:r>
              <a:t>Notice the composite uniqueness constraints:</a:t>
            </a:r>
          </a:p>
          <a:p>
            <a:r>
              <a:t>- In `securities`: UNIQUE(exchange_id, symbol) ensures symbols are unique within an exchange (e.g. RELIANCE on NSE).</a:t>
            </a:r>
          </a:p>
          <a:p>
            <a:r>
              <a:t>- In `market_data`: UNIQUE(security_id, timestamp) prevents multiple price records for the same security at the exact same point in time.</a:t>
            </a:r>
          </a:p>
          <a:p>
            <a:r>
              <a:t>Referential actions prevent orphan records: for example, you cannot delete a security if historical market data exists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Normalization is one of the most important evaluation criteria in a Semester 3 DBMS viva.</a:t>
            </a:r>
          </a:p>
          <a:p>
            <a:r>
              <a:t>Here we demonstrate formal compliance up to 3NF.</a:t>
            </a:r>
          </a:p>
          <a:p>
            <a:r>
              <a:t>In 1NF, every attribute is atomic — we do not store arrays or comma-delimited price series.</a:t>
            </a:r>
          </a:p>
          <a:p>
            <a:r>
              <a:t>In 2NF, because our tables use single-attribute surrogate keys (like security_id or order_id), partial dependencies cannot exist.</a:t>
            </a:r>
          </a:p>
          <a:p>
            <a:r>
              <a:t>In 3NF, transitive dependencies are completely eliminated.</a:t>
            </a:r>
          </a:p>
          <a:p>
            <a:r>
              <a:t>Consider the case study on the right: in a flat CSV approach, the exchange name and country depend on exchange_id, which in turn depends on security_id. That is a textbook transitive dependency (security_id -&gt; exchange_id -&gt; country).</a:t>
            </a:r>
          </a:p>
          <a:p>
            <a:r>
              <a:t>By decomposing this into EXCHANGES, SECURITIES, and MARKET_DATA, we eliminate redundancy, insertion anomalies, update anomalies, and deletion anomalies.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how our database schema handles data fidelity at the engine level:</a:t>
            </a:r>
          </a:p>
          <a:p>
            <a:r>
              <a:t>1. In finance, floating-point types like FLOAT or DOUBLE cause rounding bugs. We exclusively use DECIMAL(18,6) for financial figures.</a:t>
            </a:r>
          </a:p>
          <a:p>
            <a:r>
              <a:t>2. We enforce business validation via SQL CHECK constraints: High price must be &gt;= Low price, quantities must be positive, and win rates must stay between 0 and 100%.</a:t>
            </a:r>
          </a:p>
          <a:p>
            <a:r>
              <a:t>3. A standout feature is the XOR CHECK constraint on `risk_metrics`. A risk metric can measure a simulated live portfolio OR a backtest, but never both simultaneously. This mutually exclusive constraint is enforced directly by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major strength of QuantDB is database programmability.</a:t>
            </a:r>
          </a:p>
          <a:p>
            <a:r>
              <a:t>Instead of relying solely on Python for data logic, we implemented:</a:t>
            </a:r>
          </a:p>
          <a:p>
            <a:r>
              <a:t>- 6 Stored Procedures: encapsulate common query routines like retrieving backtest performance.</a:t>
            </a:r>
          </a:p>
          <a:p>
            <a:r>
              <a:t>- 5 Stored Functions: deterministic mathematical calculations like position valuation and safe win-rate computation.</a:t>
            </a:r>
          </a:p>
          <a:p>
            <a:r>
              <a:t>- 5 Database Triggers: crucial for automated data consistency. When a trade is inserted into the `trades` table, `trg_after_trade_order_status` automatically transitions the order status to FILLED, and `trg_after_buy_trade` automatically debits the user's cash balance.</a:t>
            </a:r>
          </a:p>
          <a:p>
            <a:r>
              <a:t>If an update attempts to push portfolio cash below zero, `trg_before_portfolio_update` raises SQLSTATE '45000' and aborts the transaction.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Transaction management is vital for financial consistency.</a:t>
            </a:r>
          </a:p>
          <a:p>
            <a:r>
              <a:t>In slide 13, we demonstrate real transaction management using `sp_transfer_portfolio_cash` from `database/11_transactions.sql`.</a:t>
            </a:r>
          </a:p>
          <a:p>
            <a:r>
              <a:t>Notice the clause: `SELECT current_cash ... FOR UPDATE`.</a:t>
            </a:r>
          </a:p>
          <a:p>
            <a:r>
              <a:t>In a multi-user environment, if two threads attempt to withdraw funds simultaneously, a standard SELECT would read the same balance, leading to a race condition and negative cash.</a:t>
            </a:r>
          </a:p>
          <a:p>
            <a:r>
              <a:t>`FOR UPDATE` places an exclusive write lock on that specific portfolio row until the transaction completes.</a:t>
            </a:r>
          </a:p>
          <a:p>
            <a:r>
              <a:t>If there are insufficient funds, the procedure executes `ROLLBACK` and raises an error.</a:t>
            </a:r>
          </a:p>
          <a:p>
            <a:r>
              <a:t>If funds are sufficient, both accounts update atomically and execute `COMMIT`.</a:t>
            </a:r>
          </a:p>
          <a:p>
            <a:r>
              <a:t>This guarantees strict ACID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slide 14, we showcase two of our 9 production database views.</a:t>
            </a:r>
          </a:p>
          <a:p>
            <a:r>
              <a:t>On the left: `vw_backtest_performance` joins four distinct tables — backtests, strategies, securities, and backtest_results using INNER and LEFT JOINs. This gives our application a single abstracted view for strategy performance.</a:t>
            </a:r>
          </a:p>
          <a:p>
            <a:r>
              <a:t>On the right: `vw_latest_market_data` demonstrates a correlated subquery. In financial systems, querying the latest price of every security is a frequent operation. The inner subquery filters for the maximum timestamp corresponding to each specific security_id.</a:t>
            </a:r>
          </a:p>
          <a:p>
            <a:r>
              <a:t>Database views provide security, simplify application queries, and allow underlying schema evolution without breaking frontend contracts.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addresses query optimization and database indexing.</a:t>
            </a:r>
          </a:p>
          <a:p>
            <a:r>
              <a:t>In financial databases, the `market_data` table can quickly grow to millions of rows.</a:t>
            </a:r>
          </a:p>
          <a:p>
            <a:r>
              <a:t>Without indexing, a query fetching 60 days of historical data for RELIANCE performs a full table scan of type ALL, requiring expensive disk I/O and filesort.</a:t>
            </a:r>
          </a:p>
          <a:p>
            <a:r>
              <a:t>We implemented a composite B+ Tree index on `(security_id, timestamp)` in `07_indexes.sql`.</a:t>
            </a:r>
          </a:p>
          <a:p>
            <a:r>
              <a:t>Under MySQL's B+ Tree architecture, this creates a compound search tree that immediately locates the security, and then traverses leaf nodes for the date range.</a:t>
            </a:r>
          </a:p>
          <a:p>
            <a:r>
              <a:t>Using `EXPLAIN`, we confirmed the execution plan changes from `type: ALL` to `type: ref / range`, reducing row inspection from thousands to only the exact rows needed, dropping query latency to under 2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 details our frontend architecture built in Streamlit.</a:t>
            </a:r>
          </a:p>
          <a:p>
            <a:r>
              <a:t>We designed an institutional dark terminal interface inspired by Bloomberg and FactSet systems.</a:t>
            </a:r>
          </a:p>
          <a:p>
            <a:r>
              <a:t>It consists of 8 distinct application pages:</a:t>
            </a:r>
          </a:p>
          <a:p>
            <a:r>
              <a:t>1. Overview Dashboard with KPI telemetry.</a:t>
            </a:r>
          </a:p>
          <a:p>
            <a:r>
              <a:t>2. Market Data with Plotly OHLCV candlesticks and microstructure depth.</a:t>
            </a:r>
          </a:p>
          <a:p>
            <a:r>
              <a:t>3. Paper Trading desk with order execution tickets.</a:t>
            </a:r>
          </a:p>
          <a:p>
            <a:r>
              <a:t>4. Portfolio Tracker showing capital allocation and position P&amp;L.</a:t>
            </a:r>
          </a:p>
          <a:p>
            <a:r>
              <a:t>5. Strategy Catalog with interactive parameter controls.</a:t>
            </a:r>
          </a:p>
          <a:p>
            <a:r>
              <a:t>6. Backtesting Engine rendering equity curves and trade blotters.</a:t>
            </a:r>
          </a:p>
          <a:p>
            <a:r>
              <a:t>7. Reports delivering institutional risk tear-sheets.</a:t>
            </a:r>
          </a:p>
          <a:p>
            <a:r>
              <a:t>8. Admin page for database governance and master catalog management.</a:t>
            </a:r>
          </a:p>
          <a:p>
            <a:r>
              <a:t>Crucially, the UI supports a Dual-Mode Architecture: toggling between 'real' MySQL database mode and 'mock' simulation mode seamlessly.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 illustrates the primary user workflows and provides clear captions matching our project implementation.</a:t>
            </a:r>
          </a:p>
          <a:p>
            <a:r>
              <a:t>Panel A shows the Overview Dashboard, which reads directly from our views and provides real-time system health.</a:t>
            </a:r>
          </a:p>
          <a:p>
            <a:r>
              <a:t>Panel B displays the Market Data interface, showing interactive candlesticks and microstructure metrics for securities like RELIANCE, fetched via our stored procedure.</a:t>
            </a:r>
          </a:p>
          <a:p>
            <a:r>
              <a:t>Panel C demonstrates the Trading Desk: when an order is placed, our database trigger updates the order status to FILLED and registers the executed trade in the blotter.</a:t>
            </a:r>
          </a:p>
          <a:p>
            <a:r>
              <a:t>Panel D demonstrates the Backtesting workflow, which computes the equity curve, total P&amp;L, and Sharpe ratio, persisting these into `backtest_results`.</a:t>
            </a:r>
          </a:p>
          <a:p>
            <a:r>
              <a:t>Evaluators can view these exact pages running locally or inspect the tables in MySQL Workbench.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slide 18, we present our verified testing strategy and results.</a:t>
            </a:r>
          </a:p>
          <a:p>
            <a:r>
              <a:t>We believe software quality should be verified by automated telemetry rather than claims.</a:t>
            </a:r>
          </a:p>
          <a:p>
            <a:r>
              <a:t>Running pytest across the repository confirms:</a:t>
            </a:r>
          </a:p>
          <a:p>
            <a:r>
              <a:t>- 235 tests pass out of 238 total tests across 12 distinct test suites.</a:t>
            </a:r>
          </a:p>
          <a:p>
            <a:r>
              <a:t>- 32 tests in `test_analytics.py` verify mathematical precision for Sharpe ratio, volatility, and max drawdown.</a:t>
            </a:r>
          </a:p>
          <a:p>
            <a:r>
              <a:t>- 40 tests in `test_trading.py` verify paper trading order validation, trade matching, and cash deduction.</a:t>
            </a:r>
          </a:p>
          <a:p>
            <a:r>
              <a:t>- 39 tests in `test_backtesting.py` test algorithmic event loops.</a:t>
            </a:r>
          </a:p>
          <a:p>
            <a:r>
              <a:t>- 47 tests across auth and signup OTP suites verify secure password hashing and rate limiting.</a:t>
            </a:r>
          </a:p>
          <a:p>
            <a:r>
              <a:t>This rigor ensures our database integration and quantitative engine are robust and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 outlines our concrete, verifiable implementation outputs:</a:t>
            </a:r>
          </a:p>
          <a:p>
            <a:r>
              <a:t>1. We deployed all 13 relational tables in MySQL with declarative constraints and foreign keys.</a:t>
            </a:r>
          </a:p>
          <a:p>
            <a:r>
              <a:t>2. We seeded real-world financial master data: 4 major global exchanges, 10 blue-chip equities, and multi-day OHLCV market ticks.</a:t>
            </a:r>
          </a:p>
          <a:p>
            <a:r>
              <a:t>3. Our analytics layer executed quantitative trading strategies, successfully computing and persisting risk metrics.</a:t>
            </a:r>
          </a:p>
          <a:p>
            <a:r>
              <a:t>4. Our Streamlit research terminal is fully operational with 8 interconnected pages, validated by 235 passing automated tests.</a:t>
            </a:r>
          </a:p>
          <a:p>
            <a:r>
              <a:t>Everything shown is working software, verified against our codebase.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 is our comprehensive DBMS concepts checklist.</a:t>
            </a:r>
          </a:p>
          <a:p>
            <a:r>
              <a:t>Every single topic required in our Semester 3 DBMS syllabus is not just theoretically discussed, but physically implemented in the project code:</a:t>
            </a:r>
          </a:p>
          <a:p>
            <a:r>
              <a:t>- ER modeling and Relational conversion.</a:t>
            </a:r>
          </a:p>
          <a:p>
            <a:r>
              <a:t>- Normalization up to 3NF.</a:t>
            </a:r>
          </a:p>
          <a:p>
            <a:r>
              <a:t>- Declarative integrity constraints including CHECK, ENUM, and composite UNIQUE keys.</a:t>
            </a:r>
          </a:p>
          <a:p>
            <a:r>
              <a:t>- Complex multi-table JOINs and aggregations.</a:t>
            </a:r>
          </a:p>
          <a:p>
            <a:r>
              <a:t>- 9 Production Database Views.</a:t>
            </a:r>
          </a:p>
          <a:p>
            <a:r>
              <a:t>- B+ Tree indexing evaluated via EXPLAIN.</a:t>
            </a:r>
          </a:p>
          <a:p>
            <a:r>
              <a:t>- Stored Procedures, Functions, and Triggers.</a:t>
            </a:r>
          </a:p>
          <a:p>
            <a:r>
              <a:t>- ACID transactions with pessimistic row locking using SELECT ... FOR UPDATE.</a:t>
            </a:r>
          </a:p>
          <a:p>
            <a:r>
              <a:t>- Full-stack Python database integration with connection pooling.</a:t>
            </a:r>
          </a:p>
          <a:p>
            <a:r>
              <a:t>This provides a complete, cohesive demonstration of database principles.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slide 21, we maintain technical honesty regarding our system's boundaries:</a:t>
            </a:r>
          </a:p>
          <a:p>
            <a:r>
              <a:t>Our current implementation is an academic paper trading system. We do not pretend to have live broker routing or real-money execution.</a:t>
            </a:r>
          </a:p>
          <a:p>
            <a:r>
              <a:t>Our market data is daily/interval OHLCV rather than nanosecond high-frequency data feeds, and our order fill model assumes ideal liquidity without slippage.</a:t>
            </a:r>
          </a:p>
          <a:p>
            <a:r>
              <a:t>For future scope, the platform can naturally evolve:</a:t>
            </a:r>
          </a:p>
          <a:p>
            <a:r>
              <a:t>- Adding real-time WebSocket feeds.</a:t>
            </a:r>
          </a:p>
          <a:p>
            <a:r>
              <a:t>- Implementing advanced risk models like Value at Risk (VaR) and Conditional VaR.</a:t>
            </a:r>
          </a:p>
          <a:p>
            <a:r>
              <a:t>- Supporting algorithmic execution algorithms like TWAP and VWAP.</a:t>
            </a:r>
          </a:p>
          <a:p>
            <a:r>
              <a:t>- Introducing MySQL read replicas to separate heavy analytical backtesting queries from transactional paper trading writes.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conclude:</a:t>
            </a:r>
          </a:p>
          <a:p>
            <a:r>
              <a:t>QuantDB demonstrates that database management principles are not just theoretical textbook concepts, but the essential foundation for reliable financial engineering.</a:t>
            </a:r>
          </a:p>
          <a:p>
            <a:r>
              <a:t>By designing a 3NF relational schema with declarative constraints, B+ Tree indexing, stored procedures, triggers, and ACID transactions, we built a robust research platform that powers automated trading simulations and risk analytics.</a:t>
            </a:r>
          </a:p>
          <a:p>
            <a:r>
              <a:t>On the right, we have anticipated the most common technical questions our DBMS evaluators might ask regarding storage engine selection, row-level locking, composite indexing, and trigger error signals.</a:t>
            </a:r>
          </a:p>
          <a:p>
            <a:r>
              <a:t>Thank you for your time and attention. We are ready to take your questions and demonstrate the live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3203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097280"/>
            <a:ext cx="4754880" cy="347472"/>
          </a:xfrm>
          <a:prstGeom prst="roundRect">
            <a:avLst/>
          </a:prstGeom>
          <a:solidFill>
            <a:srgbClr val="10284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E5FF"/>
                </a:solidFill>
                <a:latin typeface="Helvetica"/>
              </a:defRPr>
            </a:pPr>
            <a:r>
              <a:t>DATABASE MANAGEMENT SYSTEMS LAB PROJECT — SEMESTER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QuantDB</a:t>
            </a:r>
          </a:p>
          <a:p>
            <a:pPr>
              <a:spcAft>
                <a:spcPts val="1400"/>
              </a:spcAft>
              <a:defRPr sz="2000" b="1">
                <a:solidFill>
                  <a:srgbClr val="00E5FF"/>
                </a:solidFill>
                <a:latin typeface="Helvetica"/>
              </a:defRPr>
            </a:pPr>
            <a:r>
              <a:t>A Database-Driven Market Data and Algorithmic Trading Research Platform</a:t>
            </a:r>
          </a:p>
          <a:p>
            <a:pPr>
              <a:defRPr sz="1300">
                <a:solidFill>
                  <a:srgbClr val="9CAFC9"/>
                </a:solidFill>
                <a:latin typeface="Arial"/>
              </a:defRPr>
            </a:pPr>
            <a:r>
              <a:t>An institutional-grade relational schema powering historical tick storage, simulated order matching, portfolio tracking, and quantitative strategy backtesting.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931920"/>
            <a:ext cx="4663440" cy="1737360"/>
          </a:xfrm>
          <a:prstGeom prst="roundRect">
            <a:avLst/>
          </a:prstGeom>
          <a:solidFill>
            <a:srgbClr val="0E192E"/>
          </a:solidFill>
          <a:ln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600"/>
              </a:spcAft>
              <a:defRPr sz="1100" b="1">
                <a:solidFill>
                  <a:srgbClr val="00E5FF"/>
                </a:solidFill>
                <a:latin typeface="Helvetica"/>
              </a:defRPr>
            </a:pPr>
            <a:r>
              <a:t>ACADEMIC &amp; INSTITUTIONAL CONTEXT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Institution:</a:t>
            </a:r>
            <a:r>
              <a:rPr sz="1000" b="0">
                <a:solidFill>
                  <a:srgbClr val="FFFFFF"/>
                </a:solidFill>
                <a:latin typeface="Arial"/>
              </a:rPr>
              <a:t> SVNIT Surat (Sardar Vallabhbhai NIT)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Department:</a:t>
            </a:r>
            <a:r>
              <a:rPr sz="1000" b="0">
                <a:solidFill>
                  <a:srgbClr val="FFFFFF"/>
                </a:solidFill>
                <a:latin typeface="Arial"/>
              </a:rPr>
              <a:t> Computer Science and Engineering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Subject:</a:t>
            </a:r>
            <a:r>
              <a:rPr sz="1000" b="0">
                <a:solidFill>
                  <a:srgbClr val="FFFFFF"/>
                </a:solidFill>
                <a:latin typeface="Arial"/>
              </a:rPr>
              <a:t> Database Management Systems (CS207)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Academic Scope:</a:t>
            </a:r>
            <a:r>
              <a:rPr sz="1000" b="0">
                <a:solidFill>
                  <a:srgbClr val="FFFFFF"/>
                </a:solidFill>
                <a:latin typeface="Arial"/>
              </a:rPr>
              <a:t> Paper Trading &amp; Research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4846320" cy="1737360"/>
          </a:xfrm>
          <a:prstGeom prst="roundRect">
            <a:avLst/>
          </a:prstGeom>
          <a:solidFill>
            <a:srgbClr val="0E192E"/>
          </a:solidFill>
          <a:ln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600"/>
              </a:spcAft>
              <a:defRPr sz="1100" b="1">
                <a:solidFill>
                  <a:srgbClr val="00F5D4"/>
                </a:solidFill>
                <a:latin typeface="Helvetica"/>
              </a:defRPr>
            </a:pPr>
            <a:r>
              <a:t>CORE TECHNOLOGY STACK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Relational Engine:</a:t>
            </a:r>
            <a:r>
              <a:rPr sz="1000" b="0">
                <a:solidFill>
                  <a:srgbClr val="FFFFFF"/>
                </a:solidFill>
                <a:latin typeface="Arial"/>
              </a:rPr>
              <a:t> MySQL 8.x / Aiven MySQL (InnoDB, UTF8MB4)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Backend &amp; Analytics:</a:t>
            </a:r>
            <a:r>
              <a:rPr sz="1000" b="0">
                <a:solidFill>
                  <a:srgbClr val="FFFFFF"/>
                </a:solidFill>
                <a:latin typeface="Arial"/>
              </a:rPr>
              <a:t> Python 3.13, Pandas, NumPy, MySQL Connector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Research Terminal UI:</a:t>
            </a:r>
            <a:r>
              <a:rPr sz="1000" b="0">
                <a:solidFill>
                  <a:srgbClr val="FFFFFF"/>
                </a:solidFill>
                <a:latin typeface="Arial"/>
              </a:rPr>
              <a:t> Streamlit Dark Architecture, Plotly Charts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Verification:</a:t>
            </a:r>
            <a:r>
              <a:rPr sz="1000" b="0">
                <a:solidFill>
                  <a:srgbClr val="FFFFFF"/>
                </a:solidFill>
                <a:latin typeface="Arial"/>
              </a:rPr>
              <a:t> Pytest Suite (235 Passed / 238 Tests)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621024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2: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The Database Challenges in Quantitative Finance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Why conventional file-based approaches fail and why a centralized RDBMS is essential.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2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328416" cy="4572000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6479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B703"/>
                </a:solidFill>
                <a:latin typeface="Helvetica"/>
              </a:defRPr>
            </a:pPr>
            <a:r>
              <a:t>1. Flat File Pitfalls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296265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Scattered Data Sources:</a:t>
            </a:r>
            <a:r>
              <a:rPr sz="1000" b="0">
                <a:solidFill>
                  <a:srgbClr val="FFFFFF"/>
                </a:solidFill>
                <a:latin typeface="Arial"/>
              </a:rPr>
              <a:t> Financial researchers typically juggle detached CSVs, Excel workbooks, and ad-hoc scripts.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Rampant Redundancy:</a:t>
            </a:r>
            <a:r>
              <a:rPr sz="1000" b="0">
                <a:solidFill>
                  <a:srgbClr val="FFFFFF"/>
                </a:solidFill>
                <a:latin typeface="Arial"/>
              </a:rPr>
              <a:t> Exchange codes, security metadata, and currency definitions are duplicated across thousands of price tick rows.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Update &amp; Delete Anomalies:</a:t>
            </a:r>
            <a:r>
              <a:rPr sz="1000" b="0">
                <a:solidFill>
                  <a:srgbClr val="FFFFFF"/>
                </a:solidFill>
                <a:latin typeface="Arial"/>
              </a:rPr>
              <a:t> Modifying an exchange's timezone or purging price history corrupts or permanently deletes security reference master data.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Zero Schema Enforcement:</a:t>
            </a:r>
            <a:r>
              <a:rPr sz="1000" b="0">
                <a:solidFill>
                  <a:srgbClr val="FFFFFF"/>
                </a:solidFill>
                <a:latin typeface="Arial"/>
              </a:rPr>
              <a:t> No type safety, allowing corrupted decimal prices or missing timestamps to pass silently into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600200"/>
            <a:ext cx="3328416" cy="4572000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76479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6B6B"/>
                </a:solidFill>
                <a:latin typeface="Helvetica"/>
              </a:defRPr>
            </a:pPr>
            <a:r>
              <a:t>2. Integrity &amp; Race 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194560"/>
            <a:ext cx="296265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Lack of ACID Guarantees:</a:t>
            </a:r>
            <a:r>
              <a:rPr sz="1000" b="0">
                <a:solidFill>
                  <a:srgbClr val="FFFFFF"/>
                </a:solidFill>
                <a:latin typeface="Arial"/>
              </a:rPr>
              <a:t> Multi-step paper trading (order submission -&gt; cash reduction -&gt; trade creation -&gt; position update) can fail mid-way, leaving phantom balances.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Race Conditions:</a:t>
            </a:r>
            <a:r>
              <a:rPr sz="1000" b="0">
                <a:solidFill>
                  <a:srgbClr val="FFFFFF"/>
                </a:solidFill>
                <a:latin typeface="Arial"/>
              </a:rPr>
              <a:t> Concurrent simulated orders cause double-spending of portfolio cash without database row locking.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Orphaned Records:</a:t>
            </a:r>
            <a:r>
              <a:rPr sz="1000" b="0">
                <a:solidFill>
                  <a:srgbClr val="FFFFFF"/>
                </a:solidFill>
                <a:latin typeface="Arial"/>
              </a:rPr>
              <a:t> Trades referencing deleted orders or orders referencing non-existent securities create unrecoverable analytical drift.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No Native Constraints:</a:t>
            </a:r>
            <a:r>
              <a:rPr sz="1000" b="0">
                <a:solidFill>
                  <a:srgbClr val="FFFFFF"/>
                </a:solidFill>
                <a:latin typeface="Arial"/>
              </a:rPr>
              <a:t> Cannot easily enforce business rules like High Price &gt;= Low Price or Positive Quantities at storage level.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600200"/>
            <a:ext cx="3328416" cy="4572000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6479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Helvetica"/>
              </a:defRPr>
            </a:pPr>
            <a:r>
              <a:t>3. The RDBMS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194560"/>
            <a:ext cx="296265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Centralized Relational Storage:</a:t>
            </a:r>
            <a:r>
              <a:rPr sz="1000" b="0">
                <a:solidFill>
                  <a:srgbClr val="FFFFFF"/>
                </a:solidFill>
                <a:latin typeface="Arial"/>
              </a:rPr>
              <a:t> A single source of truth connecting exchanges, securities, orders, trades, and portfolios.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3NF Normalization:</a:t>
            </a:r>
            <a:r>
              <a:rPr sz="1000" b="0">
                <a:solidFill>
                  <a:srgbClr val="FFFFFF"/>
                </a:solidFill>
                <a:latin typeface="Arial"/>
              </a:rPr>
              <a:t> Eliminates repeating groups and transitive dependencies, ensuring minimum storage footprint.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Strict Constraints &amp; Triggers:</a:t>
            </a:r>
            <a:r>
              <a:rPr sz="1000" b="0">
                <a:solidFill>
                  <a:srgbClr val="FFFFFF"/>
                </a:solidFill>
                <a:latin typeface="Arial"/>
              </a:rPr>
              <a:t> Primary keys, foreign keys, CHECK constraints, and triggers enforce real-time market data validity.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High-Performance SQL:</a:t>
            </a:r>
            <a:r>
              <a:rPr sz="1000" b="0">
                <a:solidFill>
                  <a:srgbClr val="FFFFFF"/>
                </a:solidFill>
                <a:latin typeface="Arial"/>
              </a:rPr>
              <a:t> Multi-table JOINs, aggregated views, and B+ Tree indexes deliver millisecond data slices to the backtester.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730752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3: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Core DBMS &amp; Engineering Goals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Systematic objectives mapping database theory directly into software implementation.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3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Helvetica"/>
              </a:defRPr>
            </a:pPr>
            <a:r>
              <a:t>1. Centralized Schema &amp; Normalization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84831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Centralized RDBMS:</a:t>
            </a:r>
            <a:r>
              <a:rPr sz="1000" b="0">
                <a:solidFill>
                  <a:srgbClr val="FFFFFF"/>
                </a:solidFill>
                <a:latin typeface="Arial"/>
              </a:rPr>
              <a:t> Design and deploy a relational database managing 12+ interconnected financial entities.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ER Modeling:</a:t>
            </a:r>
            <a:r>
              <a:rPr sz="1000" b="0">
                <a:solidFill>
                  <a:srgbClr val="FFFFFF"/>
                </a:solidFill>
                <a:latin typeface="Arial"/>
              </a:rPr>
              <a:t> Construct a conceptual Entity-Relationship model with rigorous cardinality mapping.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Third Normal Form (3NF):</a:t>
            </a:r>
            <a:r>
              <a:rPr sz="1000" b="0">
                <a:solidFill>
                  <a:srgbClr val="FFFFFF"/>
                </a:solidFill>
                <a:latin typeface="Arial"/>
              </a:rPr>
              <a:t> Eliminate functional redundancies and anomalies between securities, exchanges, and ticks.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645920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810512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F5D4"/>
                </a:solidFill>
                <a:latin typeface="Helvetica"/>
              </a:defRPr>
            </a:pPr>
            <a:r>
              <a:t>2. Integrity Constraints &amp; Advanced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084831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Declarative Constraints:</a:t>
            </a:r>
            <a:r>
              <a:rPr sz="1000" b="0">
                <a:solidFill>
                  <a:srgbClr val="FFFFFF"/>
                </a:solidFill>
                <a:latin typeface="Arial"/>
              </a:rPr>
              <a:t> Implement PKs, FKs, UNIQUE composite indexes, and complex domain CHECK rules.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Advanced SQL Querying:</a:t>
            </a:r>
            <a:r>
              <a:rPr sz="1000" b="0">
                <a:solidFill>
                  <a:srgbClr val="FFFFFF"/>
                </a:solidFill>
                <a:latin typeface="Arial"/>
              </a:rPr>
              <a:t> Build multi-table JOINs, GROUP BY aggregations, correlated subqueries, and 9 database views.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Query Optimization:</a:t>
            </a:r>
            <a:r>
              <a:rPr sz="1000" b="0">
                <a:solidFill>
                  <a:srgbClr val="FFFFFF"/>
                </a:solidFill>
                <a:latin typeface="Arial"/>
              </a:rPr>
              <a:t> Design secondary B+ Tree indexes and evaluate query execution plans using EXPLAIN.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41648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206240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A86FF"/>
                </a:solidFill>
                <a:latin typeface="Helvetica"/>
              </a:defRPr>
            </a:pPr>
            <a:r>
              <a:t>3. Programmability &amp; ACID Concurrency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Database Programmability:</a:t>
            </a:r>
            <a:r>
              <a:rPr sz="1000" b="0">
                <a:solidFill>
                  <a:srgbClr val="FFFFFF"/>
                </a:solidFill>
                <a:latin typeface="Arial"/>
              </a:rPr>
              <a:t> Develop stored procedures for querying, stored functions for math, and triggers for automated audit.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ACID Transactions:</a:t>
            </a:r>
            <a:r>
              <a:rPr sz="1000" b="0">
                <a:solidFill>
                  <a:srgbClr val="FFFFFF"/>
                </a:solidFill>
                <a:latin typeface="Arial"/>
              </a:rPr>
              <a:t> Guarantee atomicity during order execution and cash transfer using START TRANSACTION and COMMIT/ROLLBACK.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Pessimistic Concurrency:</a:t>
            </a:r>
            <a:r>
              <a:rPr sz="1000" b="0">
                <a:solidFill>
                  <a:srgbClr val="FFFFFF"/>
                </a:solidFill>
                <a:latin typeface="Arial"/>
              </a:rPr>
              <a:t> Demonstrate SELECT ... FOR UPDATE row-level locking to prevent race conditions.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4041648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4206240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B703"/>
                </a:solidFill>
                <a:latin typeface="Helvetica"/>
              </a:defRPr>
            </a:pPr>
            <a:r>
              <a:t>4. Python Quant Engine &amp; Terminal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4480560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Full-Stack DB Integration:</a:t>
            </a:r>
            <a:r>
              <a:rPr sz="1000" b="0">
                <a:solidFill>
                  <a:srgbClr val="FFFFFF"/>
                </a:solidFill>
                <a:latin typeface="Arial"/>
              </a:rPr>
              <a:t> Establish robust MySQL connection pooling with parameterized SQL in Python.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Quantitative Backtesting:</a:t>
            </a:r>
            <a:r>
              <a:rPr sz="1000" b="0">
                <a:solidFill>
                  <a:srgbClr val="FFFFFF"/>
                </a:solidFill>
                <a:latin typeface="Arial"/>
              </a:rPr>
              <a:t> Simulate trading strategies (SMA, Momentum) and calculate Sharpe Ratio &amp; Drawdown.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Terminal-Grade UI:</a:t>
            </a:r>
            <a:r>
              <a:rPr sz="1000" b="0">
                <a:solidFill>
                  <a:srgbClr val="FFFFFF"/>
                </a:solidFill>
                <a:latin typeface="Arial"/>
              </a:rPr>
              <a:t> Deploy an 8-page Streamlit dashboard supporting dual real-database and mock-simulation modes.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059935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4: REAL-WORLD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Quantitative Research &amp; Simulation Architecture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Connecting database engineering with modern algorithmic trading and investment research.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4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728655" cy="658368"/>
          </a:xfrm>
          <a:prstGeom prst="roundRect">
            <a:avLst/>
          </a:prstGeom>
          <a:solidFill>
            <a:srgbClr val="1E140A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703"/>
                </a:solidFill>
                <a:latin typeface="Helvetica"/>
              </a:defRPr>
            </a:pPr>
            <a:r>
              <a:t>ACADEMIC SIMULATION &amp; PAPER TRADING DISCLAIMER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QuantDB is strictly an academic simulated trading and quantitative research platform. It does NOT route orders to live exchanges, hold actual fiat currency, or execute real-money financial transactions.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3328416" cy="3794760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58775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Helvetica"/>
              </a:defRPr>
            </a:pPr>
            <a:r>
              <a:t>Phase 1: Ingestion &amp;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2962656" cy="3108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Market Data Lifecycle:</a:t>
            </a:r>
            <a:r>
              <a:rPr sz="1000" b="0">
                <a:solidFill>
                  <a:srgbClr val="FFFFFF"/>
                </a:solidFill>
                <a:latin typeface="Arial"/>
              </a:rPr>
              <a:t> Historical price ticks require rigorous ingestion, clean OHLC structuring, and continuous validation.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Microstructure Metrics:</a:t>
            </a:r>
            <a:r>
              <a:rPr sz="1000" b="0">
                <a:solidFill>
                  <a:srgbClr val="FFFFFF"/>
                </a:solidFill>
                <a:latin typeface="Arial"/>
              </a:rPr>
              <a:t> Storing bid/ask quotes enables calculating Bid-Ask Spread, Market Depth, and Order Book Imbalance.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High Ingestion Volumes:</a:t>
            </a:r>
            <a:r>
              <a:rPr sz="1000" b="0">
                <a:solidFill>
                  <a:srgbClr val="FFFFFF"/>
                </a:solidFill>
                <a:latin typeface="Arial"/>
              </a:rPr>
              <a:t> Requires composite indexes on (security_id, timestamp) for rapid sub-second slice queries during strategy evaluation.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2423160"/>
            <a:ext cx="3328416" cy="3794760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58775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F5D4"/>
                </a:solidFill>
                <a:latin typeface="Helvetica"/>
              </a:defRPr>
            </a:pPr>
            <a:r>
              <a:t>Phase 2: Strategy Backtesting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971800"/>
            <a:ext cx="2962656" cy="3108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Strategy Formulation:</a:t>
            </a:r>
            <a:r>
              <a:rPr sz="1000" b="0">
                <a:solidFill>
                  <a:srgbClr val="FFFFFF"/>
                </a:solidFill>
                <a:latin typeface="Arial"/>
              </a:rPr>
              <a:t> Researchers parameterize algorithmic rules (e.g. SMA 20/50 crossover, Mean Reversion Z-scores).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Event-Driven Backtesting:</a:t>
            </a:r>
            <a:r>
              <a:rPr sz="1000" b="0">
                <a:solidFill>
                  <a:srgbClr val="FFFFFF"/>
                </a:solidFill>
                <a:latin typeface="Arial"/>
              </a:rPr>
              <a:t> Historical ticks replay against algorithms to generate simulated orders and trade blotters.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Result Persistence:</a:t>
            </a:r>
            <a:r>
              <a:rPr sz="1000" b="0">
                <a:solidFill>
                  <a:srgbClr val="FFFFFF"/>
                </a:solidFill>
                <a:latin typeface="Arial"/>
              </a:rPr>
              <a:t> Output metrics (total return, P&amp;L, trade counts, win rate) are committed to backtest_results for auditability.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423160"/>
            <a:ext cx="3328416" cy="3794760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58775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A86FF"/>
                </a:solidFill>
                <a:latin typeface="Helvetica"/>
              </a:defRPr>
            </a:pPr>
            <a:r>
              <a:t>Phase 3: Portfolio &amp; Risk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971800"/>
            <a:ext cx="2962656" cy="3108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Simulated Execution:</a:t>
            </a:r>
            <a:r>
              <a:rPr sz="1000" b="0">
                <a:solidFill>
                  <a:srgbClr val="FFFFFF"/>
                </a:solidFill>
                <a:latin typeface="Arial"/>
              </a:rPr>
              <a:t> Supports MARKET and LIMIT orders with automated trade matching and status updates.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Real-Time Position Tracking:</a:t>
            </a:r>
            <a:r>
              <a:rPr sz="1000" b="0">
                <a:solidFill>
                  <a:srgbClr val="FFFFFF"/>
                </a:solidFill>
                <a:latin typeface="Arial"/>
              </a:rPr>
              <a:t> Automatically calculates average acquisition cost, realized P&amp;L, and unrealized floating P&amp;L.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sz="1000" b="1">
                <a:solidFill>
                  <a:srgbClr val="00E5FF"/>
                </a:solidFill>
                <a:latin typeface="Arial"/>
              </a:rPr>
              <a:t>Institutional Risk Metrics:</a:t>
            </a:r>
            <a:r>
              <a:rPr sz="1000" b="0">
                <a:solidFill>
                  <a:srgbClr val="FFFFFF"/>
                </a:solidFill>
                <a:latin typeface="Arial"/>
              </a:rPr>
              <a:t> Computes Annualized Volatility, Sharpe Ratio, and Maximum Drawdown to assess strategy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182112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5: USERS &amp;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Role-Based Access Control &amp; Schema Enforcement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Explicit distinction between conceptual user workflows and implemented database roles.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5 of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6949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828800"/>
                <a:gridCol w="1463040"/>
              </a:tblGrid>
              <a:tr h="87782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Role (SQL ENUM)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Primary Purpose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Key Permissions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Schema Status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System governance, exchange &amp; security catalog management, user audit.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Full DDL/DML, user verification, system topology.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Active (Implemented)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QUANT_RESEARCHER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Quantitative model formulation, backtesting, factor research.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Read market data, write strategies, execute backtests.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Active (Implemented)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SIMULATED_TRADER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Simulated paper trading, order tickets, portfolio tracking.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Place orders, manage portfolios, view positions.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Active (Implemented)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QUANT_DEVELOPER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Database tuning, query optimization, analytics extension.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Manage procedures, view explain plans, diagnostics.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Active (Implemented)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985455" y="1645920"/>
            <a:ext cx="3474720" cy="4389120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6623" y="1810512"/>
            <a:ext cx="307238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Helvetica"/>
              </a:defRPr>
            </a:pPr>
            <a:r>
              <a:t>Database-Level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8335" y="2148840"/>
            <a:ext cx="3108960" cy="3749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SQL Schema Enforcement:</a:t>
            </a:r>
            <a:r>
              <a:rPr sz="950" b="0">
                <a:solidFill>
                  <a:srgbClr val="FFFFFF"/>
                </a:solidFill>
                <a:latin typeface="Arial"/>
              </a:rPr>
              <a:t> User roles are strictly validated via SQL ENUM constraints: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`role ENUM('USER', 'QUANT_TRADER', 'QUANT_RESEARCHER', 'QUANT_DEVELOPER', 'ADMIN', 'SIMULATED_TRADER') NOT NULL`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Account Verification &amp; OTPs:</a:t>
            </a:r>
            <a:r>
              <a:rPr sz="950" b="0">
                <a:solidFill>
                  <a:srgbClr val="FFFFFF"/>
                </a:solidFill>
                <a:latin typeface="Arial"/>
              </a:rPr>
              <a:t> Dedicated table `email_otps` stores hashed OTP tokens with expiration and attempt counters.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Conceptual vs Implemented:</a:t>
            </a:r>
            <a:r>
              <a:rPr sz="950" b="0">
                <a:solidFill>
                  <a:srgbClr val="FFFFFF"/>
                </a:solidFill>
                <a:latin typeface="Arial"/>
              </a:rPr>
              <a:t> While full enterprise LDAP/OAuth is future scope, QuantDB implements password hashing (PBKDF2/SHA-256), email uniqueness, and verified session authorization.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279392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6: 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Structured Functional Requirements Matrix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Core modules, implemented operations, database linkages, and business rules.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6 of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2926080"/>
                <a:gridCol w="2590495"/>
              </a:tblGrid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Functional Module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Key Implemented Capabilities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Database Entities Involved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DBMS Rule Enforced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Data Management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Create exchanges, register securities, store OHLCV daily market ticks and bid/ask quotes.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exchanges, securities, market_data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UNIQUE(security_id, timestamp), CHECK(high_price &gt;= low_price)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Trading Simulation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Place simulated MARKET &amp; LIMIT buy/sell orders, simulate execution, record trades.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orders, trades, securities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CHECK(quantity &gt; 0), Trigger updating order_status to 'FILLED'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Portfolio Management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Track user portfolio cash, positions, average acquisition price, and realized/unrealized P&amp;L.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portfolios, positions, users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UNIQUE(portfolio_id, security_id), Trigger preventing cash &lt; 0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Strategy Research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Configure algorithmic strategies (Moving Average, Momentum, Mean Reversion) with JSON parameters.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strategies, users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FK to users, JSON parameter validation in application layer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Backtesting Engine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Execute strategies on historical market data, compute equity curves, persist result records.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backtests, backtest_results, securities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UNIQUE(backtest_id), CHECK(start_date &lt;= end_date)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Quantitative Analytics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Calculate Sharpe Ratio, Annualized Volatility, Max Drawdown, Win Rate, and Microstructure metrics.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risk_metrics, backtest_results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XOR CHECK: risk_metric belongs to portfolio OR backtest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79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7: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Layered System Architecture &amp; Data Flow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Multi-tier architecture separating presentation, service abstractions, quant logic, and database.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7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6217920" cy="777240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5852160" cy="5577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Helvetica"/>
              </a:defRPr>
            </a:pPr>
            <a:r>
              <a:t>Layer 1: Presentation Tier (Streamlit UI)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Institutional dark terminal, 8 dedicated workspaces, Plotly financial charts.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87752"/>
            <a:ext cx="6217920" cy="777240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5852160" cy="5577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Helvetica"/>
              </a:defRPr>
            </a:pPr>
            <a:r>
              <a:t>Layer 2: Service &amp; Provider Tier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Provider Factory supporting dual execution modes: Mock Simulation vs Real MySQL Bridge.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9584"/>
            <a:ext cx="6217920" cy="777240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39312"/>
            <a:ext cx="5852160" cy="5577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3A86FF"/>
                </a:solidFill>
                <a:latin typeface="Helvetica"/>
              </a:defRPr>
            </a:pPr>
            <a:r>
              <a:t>Layer 3: Quantitative Analytics Engine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Pandas &amp; NumPy engines for OHLCV vectorization, backtesting, Sharpe Ratio &amp; Drawdown.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71416"/>
            <a:ext cx="6217920" cy="777240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81144"/>
            <a:ext cx="5852160" cy="5577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B703"/>
                </a:solidFill>
                <a:latin typeface="Helvetica"/>
              </a:defRPr>
            </a:pPr>
            <a:r>
              <a:t>Layer 4: Repository &amp; Query Layer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queries.py executing parameterized SQL (%s) with MySQL connection pooling &amp; error handling.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13248"/>
            <a:ext cx="6217920" cy="777240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22976"/>
            <a:ext cx="5852160" cy="5577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6B6B"/>
                </a:solidFill>
                <a:latin typeface="Helvetica"/>
              </a:defRPr>
            </a:pPr>
            <a:r>
              <a:t>Layer 5: Database Storage Tier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MySQL 8.x / Aiven MySQL with InnoDB engine, B+ Tree indexes, ACID transactions, and Triggers.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53935" y="1645920"/>
            <a:ext cx="4206240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5103" y="1810512"/>
            <a:ext cx="380390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Helvetica"/>
              </a:defRPr>
            </a:pPr>
            <a:r>
              <a:t>5-Step Execution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148840"/>
            <a:ext cx="3840480" cy="3904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1. User Interaction:</a:t>
            </a:r>
            <a:r>
              <a:rPr sz="950" b="0">
                <a:solidFill>
                  <a:srgbClr val="FFFFFF"/>
                </a:solidFill>
                <a:latin typeface="Arial"/>
              </a:rPr>
              <a:t> User selects a security (e.g. RELIANCE) and initiates a backtest or submits a paper order.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2. Service Delegation:</a:t>
            </a:r>
            <a:r>
              <a:rPr sz="950" b="0">
                <a:solidFill>
                  <a:srgbClr val="FFFFFF"/>
                </a:solidFill>
                <a:latin typeface="Arial"/>
              </a:rPr>
              <a:t> The Streamlit page routes request to the Service Layer (`market_service`, `trading_service`).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3. Repository SQL Execution:</a:t>
            </a:r>
            <a:r>
              <a:rPr sz="950" b="0">
                <a:solidFill>
                  <a:srgbClr val="FFFFFF"/>
                </a:solidFill>
                <a:latin typeface="Arial"/>
              </a:rPr>
              <a:t> Repository fetches connection from pool, executes parameterized SQL on MySQL with InnoDB row lock.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4. Analytics Processing:</a:t>
            </a:r>
            <a:r>
              <a:rPr sz="950" b="0">
                <a:solidFill>
                  <a:srgbClr val="FFFFFF"/>
                </a:solidFill>
                <a:latin typeface="Arial"/>
              </a:rPr>
              <a:t> Raw database records are converted to Pandas DataFrames; NumPy computes moving averages, signals, and risk.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5. Reactive UI Rendering:</a:t>
            </a:r>
            <a:r>
              <a:rPr sz="950" b="0">
                <a:solidFill>
                  <a:srgbClr val="FFFFFF"/>
                </a:solidFill>
                <a:latin typeface="Arial"/>
              </a:rPr>
              <a:t> Metrics, tables, and Plotly equity curves return to Streamlit with clean dark formatting.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498848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8: ENTITY-RELATIONSHIP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Conceptual ER Diagram &amp; Entity Cardinalities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12 core relational entities plus authentication, modeling complete quant trading lifecycle.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8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Helvetica"/>
              </a:defRPr>
            </a:pPr>
            <a:r>
              <a:t>Market Data Cluster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84831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EXCHANGES (1) ───&lt; (N) SECURITIES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Primary Key: `exchange_id` | Foreign Key: `securities.exchange_id`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SECURITIES (1) ───&lt; (N) MARKET_DATA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Stores historical OHLCV ticks &amp; bid/ask microstructure quotes.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Natural Composite Key Constraint: `UNIQUE(security_id, timestamp)`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645920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810512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F5D4"/>
                </a:solidFill>
                <a:latin typeface="Helvetica"/>
              </a:defRPr>
            </a:pPr>
            <a:r>
              <a:t>Simulated Trading Cluster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084831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USERS (1) ───&lt; (N) ORDERS ───&gt; (1) SECURITIES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Tracks user-submitted paper orders (MARKET / LIMIT).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ORDERS (1) ───- (1) TRADES (Executed Blotter)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Each executed trade references exactly one parent order.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Trade execution updates order status and triggers portfolio cash adjustment.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41648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206240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A86FF"/>
                </a:solidFill>
                <a:latin typeface="Helvetica"/>
              </a:defRPr>
            </a:pPr>
            <a:r>
              <a:t>Portfolio &amp; Holdings Cluster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USERS (1) ───&lt; (N) PORTFOLIOS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Users can manage multiple paper trading portfolios with distinct capital.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PORTFOLIOS (1) ───&lt; (N) POSITIONS ───&gt; (1) SECURITIES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Represents holdings. Constraint: `UNIQUE(portfolio_id, security_id)`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Tracks quantity, average cost basis, realized P&amp;L, unrealized P&amp;L.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4041648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4206240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B703"/>
                </a:solidFill>
                <a:latin typeface="Helvetica"/>
              </a:defRPr>
            </a:pPr>
            <a:r>
              <a:t>Strategy &amp; Analytics Cluster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4480560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USERS (1) ───&lt; (N) STRATEGIES ───&lt; (N) BACKTESTS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Strategies hold JSON algorithmic configuration parameters.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BACKTESTS (1) ───- (1) BACKTEST_RESULTS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Backtest result stores return, Sharpe, max drawdown, win rate.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RISK_METRICS:</a:t>
            </a:r>
            <a:r>
              <a:rPr sz="950" b="0">
                <a:solidFill>
                  <a:srgbClr val="FFFFFF"/>
                </a:solidFill>
                <a:latin typeface="Arial"/>
              </a:rPr>
              <a:t> XOR relation to either `portfolio_id` OR `backtest_id`.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621024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9: RELATIONAL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Relational Mapping &amp; Referential Integrity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Formal conversion of conceptual ER entities into normalized MySQL relational tables.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9 of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926080"/>
                <a:gridCol w="3962095"/>
              </a:tblGrid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Relational Table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Foreign Keys &amp; References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Important Attributes &amp; Unique Keys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user_id (BIGINT PK)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name, email (UNIQUE), role (ENUM), status, created_at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exchanges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exchange_id (BIGINT PK)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exchange_name, exchange_code (UNIQUE), country, timezone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securities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security_id (BIGINT PK)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exchange_id -&gt; exchanges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symbol, security_type, currency, status. UNIQUE(exchange_id, symbol)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market_data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market_data_id (BIGINT PK)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security_id -&gt; securities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timestamp, open, high, low, close, volume. UNIQUE(security_id, timestamp)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order_id (BIGINT PK)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user_id -&gt; users, security_id -&gt; securities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order_type (MARKET/LIMIT), side (BUY/SELL), quantity, order_price, status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trades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trade_id (BIGINT PK)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order_id -&gt; orders, security_id -&gt; securities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trade_side, quantity, execution_price, trade_time, transaction_cost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279392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10: NORMALIZATION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Rigorous Normalization: 1NF, 2NF, and 3NF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Step-by-step mathematical decomposition eliminating redundancy and update anomalies.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10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4754880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3525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Helvetica"/>
              </a:defRPr>
            </a:pPr>
            <a:r>
              <a:t>Normalization Proofs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389120" cy="3904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1. First Normal Form (1NF):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>
                <a:solidFill>
                  <a:srgbClr val="FFFFFF"/>
                </a:solidFill>
                <a:latin typeface="Arial"/>
              </a:rPr>
              <a:t>• All attributes contain atomic, indivisible values.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>
                <a:solidFill>
                  <a:srgbClr val="FFFFFF"/>
                </a:solidFill>
                <a:latin typeface="Arial"/>
              </a:rPr>
              <a:t>• No repeating groups or comma-separated lists (e.g. OHLC prices and volumes are discrete scalar columns).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2. Second Normal Form (2NF):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>
                <a:solidFill>
                  <a:srgbClr val="FFFFFF"/>
                </a:solidFill>
                <a:latin typeface="Arial"/>
              </a:rPr>
              <a:t>• Meets 1NF + every non-key attribute is fully functionally dependent on the entire primary key.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>
                <a:solidFill>
                  <a:srgbClr val="FFFFFF"/>
                </a:solidFill>
                <a:latin typeface="Arial"/>
              </a:rPr>
              <a:t>• Since surrogate keys (BIGINT PK) are single-attribute, partial key dependency is mathematically impossible.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>
                <a:solidFill>
                  <a:srgbClr val="FFFFFF"/>
                </a:solidFill>
                <a:latin typeface="Arial"/>
              </a:rPr>
              <a:t>• For composite keys like `(security_id, timestamp)`, price metrics depend on the entire tuple.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3. Third Normal Form (3NF):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>
                <a:solidFill>
                  <a:srgbClr val="FFFFFF"/>
                </a:solidFill>
                <a:latin typeface="Arial"/>
              </a:rPr>
              <a:t>• Meets 2NF + no non-key attribute is transitively dependent on another non-key attribute (X -&gt; Y where Y -&gt; Z).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>
                <a:solidFill>
                  <a:srgbClr val="FFFFFF"/>
                </a:solidFill>
                <a:latin typeface="Arial"/>
              </a:rPr>
              <a:t>• QuantDB separates exchanges, securities, users, portfolios, and ticks into isolated relations.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90895" y="1645920"/>
            <a:ext cx="5669280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92063" y="1810512"/>
            <a:ext cx="52669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B703"/>
                </a:solidFill>
                <a:latin typeface="Helvetica"/>
              </a:defRPr>
            </a:pPr>
            <a:r>
              <a:t>Decomposition Case Study: Market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3775" y="2148840"/>
            <a:ext cx="5303520" cy="3904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850">
                <a:latin typeface="Arial"/>
              </a:defRPr>
            </a:pPr>
            <a:r>
              <a:rPr sz="850" b="1">
                <a:solidFill>
                  <a:srgbClr val="00E5FF"/>
                </a:solidFill>
                <a:latin typeface="Arial"/>
              </a:rPr>
              <a:t>Unnormalized Flat Relation (Universal Table):</a:t>
            </a:r>
          </a:p>
          <a:p>
            <a:pPr>
              <a:spcAft>
                <a:spcPts val="300"/>
              </a:spcAft>
              <a:defRPr sz="850">
                <a:latin typeface="Arial"/>
              </a:defRPr>
            </a:pPr>
            <a:r>
              <a:rPr sz="850">
                <a:solidFill>
                  <a:srgbClr val="FFFFFF"/>
                </a:solidFill>
                <a:latin typeface="Arial"/>
              </a:rPr>
              <a:t>`UNNORM_TICKS(tick_id, timestamp, symbol, sec_name, sec_type, currency, exchange_code, exchange_name, country, timezone, open, high, low, close, volume)`</a:t>
            </a:r>
          </a:p>
          <a:p>
            <a:pPr>
              <a:spcAft>
                <a:spcPts val="300"/>
              </a:spcAft>
              <a:defRPr sz="850">
                <a:latin typeface="Arial"/>
              </a:defRPr>
            </a:pPr>
            <a:r>
              <a:rPr sz="850" b="1">
                <a:solidFill>
                  <a:srgbClr val="00E5FF"/>
                </a:solidFill>
                <a:latin typeface="Arial"/>
              </a:rPr>
              <a:t>Severe Anomalies in Flat Design:</a:t>
            </a:r>
          </a:p>
          <a:p>
            <a:pPr>
              <a:spcAft>
                <a:spcPts val="300"/>
              </a:spcAft>
              <a:defRPr sz="850">
                <a:latin typeface="Arial"/>
              </a:defRPr>
            </a:pPr>
            <a:r>
              <a:rPr sz="850" b="0">
                <a:solidFill>
                  <a:srgbClr val="FFFFFF"/>
                </a:solidFill>
                <a:latin typeface="Arial"/>
              </a:rPr>
              <a:t>• </a:t>
            </a:r>
            <a:r>
              <a:rPr sz="850" b="1">
                <a:solidFill>
                  <a:srgbClr val="00E5FF"/>
                </a:solidFill>
                <a:latin typeface="Arial"/>
              </a:rPr>
              <a:t>Redundancy:</a:t>
            </a:r>
            <a:r>
              <a:rPr sz="850" b="0">
                <a:solidFill>
                  <a:srgbClr val="FFFFFF"/>
                </a:solidFill>
                <a:latin typeface="Arial"/>
              </a:rPr>
              <a:t> If RELIANCE has 100,000 tick rows, exchange details ('NSE', 'India', 'Asia/Kolkata') are repeated 100,000 times.</a:t>
            </a:r>
          </a:p>
          <a:p>
            <a:pPr>
              <a:spcAft>
                <a:spcPts val="300"/>
              </a:spcAft>
              <a:defRPr sz="850">
                <a:latin typeface="Arial"/>
              </a:defRPr>
            </a:pPr>
            <a:r>
              <a:rPr sz="850" b="0">
                <a:solidFill>
                  <a:srgbClr val="FFFFFF"/>
                </a:solidFill>
                <a:latin typeface="Arial"/>
              </a:rPr>
              <a:t>• </a:t>
            </a:r>
            <a:r>
              <a:rPr sz="850" b="1">
                <a:solidFill>
                  <a:srgbClr val="00E5FF"/>
                </a:solidFill>
                <a:latin typeface="Arial"/>
              </a:rPr>
              <a:t>Insertion Anomaly:</a:t>
            </a:r>
            <a:r>
              <a:rPr sz="850" b="0">
                <a:solidFill>
                  <a:srgbClr val="FFFFFF"/>
                </a:solidFill>
                <a:latin typeface="Arial"/>
              </a:rPr>
              <a:t> Cannot record a newly listed exchange or security until at least one market price tick occurs.</a:t>
            </a:r>
          </a:p>
          <a:p>
            <a:pPr>
              <a:spcAft>
                <a:spcPts val="300"/>
              </a:spcAft>
              <a:defRPr sz="850">
                <a:latin typeface="Arial"/>
              </a:defRPr>
            </a:pPr>
            <a:r>
              <a:rPr sz="850" b="0">
                <a:solidFill>
                  <a:srgbClr val="FFFFFF"/>
                </a:solidFill>
                <a:latin typeface="Arial"/>
              </a:rPr>
              <a:t>• </a:t>
            </a:r>
            <a:r>
              <a:rPr sz="850" b="1">
                <a:solidFill>
                  <a:srgbClr val="00E5FF"/>
                </a:solidFill>
                <a:latin typeface="Arial"/>
              </a:rPr>
              <a:t>Update Anomaly:</a:t>
            </a:r>
            <a:r>
              <a:rPr sz="850" b="0">
                <a:solidFill>
                  <a:srgbClr val="FFFFFF"/>
                </a:solidFill>
                <a:latin typeface="Arial"/>
              </a:rPr>
              <a:t> Updating an exchange's timezone requires updating 100,000 rows; failure causes split-brain data.</a:t>
            </a:r>
          </a:p>
          <a:p>
            <a:pPr>
              <a:spcAft>
                <a:spcPts val="300"/>
              </a:spcAft>
              <a:defRPr sz="850">
                <a:latin typeface="Arial"/>
              </a:defRPr>
            </a:pPr>
            <a:r>
              <a:rPr sz="850" b="0">
                <a:solidFill>
                  <a:srgbClr val="FFFFFF"/>
                </a:solidFill>
                <a:latin typeface="Arial"/>
              </a:rPr>
              <a:t>• </a:t>
            </a:r>
            <a:r>
              <a:rPr sz="850" b="1">
                <a:solidFill>
                  <a:srgbClr val="00E5FF"/>
                </a:solidFill>
                <a:latin typeface="Arial"/>
              </a:rPr>
              <a:t>Deletion Anomaly:</a:t>
            </a:r>
            <a:r>
              <a:rPr sz="850" b="0">
                <a:solidFill>
                  <a:srgbClr val="FFFFFF"/>
                </a:solidFill>
                <a:latin typeface="Arial"/>
              </a:rPr>
              <a:t> Deleting old market ticks inadvertently wipes out the security and exchange definition.</a:t>
            </a:r>
          </a:p>
          <a:p>
            <a:pPr>
              <a:spcAft>
                <a:spcPts val="300"/>
              </a:spcAft>
              <a:defRPr sz="850">
                <a:latin typeface="Arial"/>
              </a:defRPr>
            </a:pPr>
            <a:r>
              <a:rPr sz="850" b="1">
                <a:solidFill>
                  <a:srgbClr val="00E5FF"/>
                </a:solidFill>
                <a:latin typeface="Arial"/>
              </a:rPr>
              <a:t>Decomposed 3NF Structure (QuantDB):</a:t>
            </a:r>
          </a:p>
          <a:p>
            <a:pPr>
              <a:spcAft>
                <a:spcPts val="300"/>
              </a:spcAft>
              <a:defRPr sz="850">
                <a:latin typeface="Arial"/>
              </a:defRPr>
            </a:pPr>
            <a:r>
              <a:rPr sz="850">
                <a:solidFill>
                  <a:srgbClr val="FFFFFF"/>
                </a:solidFill>
                <a:latin typeface="Arial"/>
              </a:rPr>
              <a:t>• `EXCHANGES(exchange_id PK, exchange_name, exchange_code, ...)`</a:t>
            </a:r>
          </a:p>
          <a:p>
            <a:pPr>
              <a:spcAft>
                <a:spcPts val="300"/>
              </a:spcAft>
              <a:defRPr sz="850">
                <a:latin typeface="Arial"/>
              </a:defRPr>
            </a:pPr>
            <a:r>
              <a:rPr sz="850">
                <a:solidFill>
                  <a:srgbClr val="FFFFFF"/>
                </a:solidFill>
                <a:latin typeface="Arial"/>
              </a:rPr>
              <a:t>• `SECURITIES(security_id PK, exchange_id FK, symbol, ...)`</a:t>
            </a:r>
          </a:p>
          <a:p>
            <a:pPr>
              <a:spcAft>
                <a:spcPts val="300"/>
              </a:spcAft>
              <a:defRPr sz="850">
                <a:latin typeface="Arial"/>
              </a:defRPr>
            </a:pPr>
            <a:r>
              <a:rPr sz="850">
                <a:solidFill>
                  <a:srgbClr val="FFFFFF"/>
                </a:solidFill>
                <a:latin typeface="Arial"/>
              </a:rPr>
              <a:t>• `MARKET_DATA(market_data_id PK, security_id FK, timestamp, ...)`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5047488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11: DATABASE DESIGN &amp;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DDL Specifications, Integrity Constraints &amp; Storage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Engine-level rules enforcing business integrity across financial transactions.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11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28416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Helvetica"/>
              </a:defRPr>
            </a:pPr>
            <a:r>
              <a:t>1. DDL &amp; Engine 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2962656" cy="38587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Storage Engine:</a:t>
            </a:r>
            <a:r>
              <a:rPr sz="950" b="0">
                <a:solidFill>
                  <a:srgbClr val="FFFFFF"/>
                </a:solidFill>
                <a:latin typeface="Arial"/>
              </a:rPr>
              <a:t> MySQL InnoDB engine enabled across all 13 tables for full ACID compliance.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Charset &amp; Collation:</a:t>
            </a:r>
            <a:r>
              <a:rPr sz="950" b="0">
                <a:solidFill>
                  <a:srgbClr val="FFFFFF"/>
                </a:solidFill>
                <a:latin typeface="Arial"/>
              </a:rPr>
              <a:t> `utf8mb4_unicode_ci` for international security names and currency symbols.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Surrogate Identifiers:</a:t>
            </a:r>
            <a:r>
              <a:rPr sz="950" b="0">
                <a:solidFill>
                  <a:srgbClr val="FFFFFF"/>
                </a:solidFill>
                <a:latin typeface="Arial"/>
              </a:rPr>
              <a:t> `BIGINT AUTO_INCREMENT` for high-throughput row scaling without key collisions.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Precision Decimals:</a:t>
            </a:r>
            <a:r>
              <a:rPr sz="950" b="0">
                <a:solidFill>
                  <a:srgbClr val="FFFFFF"/>
                </a:solidFill>
                <a:latin typeface="Arial"/>
              </a:rPr>
              <a:t> Financial prices use `DECIMAL(18,6)` to avoid IEEE floating-point rounding errors.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645920"/>
            <a:ext cx="3328416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81051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F5D4"/>
                </a:solidFill>
                <a:latin typeface="Helvetica"/>
              </a:defRPr>
            </a:pPr>
            <a:r>
              <a:t>2. Declarative CHECK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194560"/>
            <a:ext cx="2962656" cy="38587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Price Sanity Rules: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`CHECK (open_price &gt; 0 AND close_price &gt; 0)`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`CHECK (high_price &gt;= low_price)`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`CHECK (volume &gt;= 0)`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Trading Sanity Rules: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`CHECK (quantity &gt; 0)` in orders &amp; trades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`CHECK (execution_price &gt; 0)`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`CHECK (initial_capital &gt;= 0)`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Win Rate Range: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`CHECK (win_rate &gt;= 0 AND win_rate &lt;= 100)`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645920"/>
            <a:ext cx="3328416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1051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B703"/>
                </a:solidFill>
                <a:latin typeface="Helvetica"/>
              </a:defRPr>
            </a:pPr>
            <a:r>
              <a:t>3. Exclusive OR (XOR)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194560"/>
            <a:ext cx="2962656" cy="38587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850">
                <a:latin typeface="Arial"/>
              </a:defRPr>
            </a:pPr>
            <a:r>
              <a:rPr sz="850" b="1">
                <a:solidFill>
                  <a:srgbClr val="00E5FF"/>
                </a:solidFill>
                <a:latin typeface="Arial"/>
              </a:rPr>
              <a:t>Mutually Exclusive Foreign Key:</a:t>
            </a:r>
          </a:p>
          <a:p>
            <a:pPr>
              <a:spcAft>
                <a:spcPts val="500"/>
              </a:spcAft>
              <a:defRPr sz="850">
                <a:latin typeface="Arial"/>
              </a:defRPr>
            </a:pPr>
            <a:r>
              <a:rPr sz="850">
                <a:solidFill>
                  <a:srgbClr val="FFFFFF"/>
                </a:solidFill>
                <a:latin typeface="Arial"/>
              </a:rPr>
              <a:t>In `risk_metrics`, a risk observation must belong to EITHER a portfolio OR a backtest, but never both or neither:</a:t>
            </a:r>
          </a:p>
          <a:p>
            <a:pPr>
              <a:spcAft>
                <a:spcPts val="500"/>
              </a:spcAft>
              <a:defRPr sz="850">
                <a:latin typeface="Arial"/>
              </a:defRPr>
            </a:pPr>
            <a:r>
              <a:rPr sz="850">
                <a:solidFill>
                  <a:srgbClr val="FFFFFF"/>
                </a:solidFill>
                <a:latin typeface="Arial"/>
              </a:rPr>
              <a:t>```sql
ALTER TABLE risk_metrics
ADD CONSTRAINT
chk_risk_metrics_source
CHECK (
  (portfolio_id IS NOT NULL 
   AND backtest_id IS NULL)
  OR
  (portfolio_id IS NULL 
   AND backtest_id IS NOT NULL)
);```</a:t>
            </a:r>
          </a:p>
          <a:p>
            <a:pPr>
              <a:spcAft>
                <a:spcPts val="500"/>
              </a:spcAft>
              <a:defRPr sz="850">
                <a:latin typeface="Arial"/>
              </a:defRPr>
            </a:pPr>
            <a:r>
              <a:rPr sz="850">
                <a:solidFill>
                  <a:srgbClr val="FFFFFF"/>
                </a:solidFill>
                <a:latin typeface="Arial"/>
              </a:rPr>
              <a:t>This is an institutional design pattern preventing orphaned or dual-attributed risk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498848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12: DATABASE PROGRAMMABILITY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Stored Procedures, Stored Functions &amp; Triggers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Automating business logic, state transitions, and audit validation inside MySQL.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12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28416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Helvetica"/>
              </a:defRPr>
            </a:pPr>
            <a:r>
              <a:t>Stored Procedures (6 Implemented)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2962656" cy="38587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sp_get_user_portfolios:</a:t>
            </a:r>
            <a:r>
              <a:rPr sz="900" b="0">
                <a:solidFill>
                  <a:srgbClr val="FFFFFF"/>
                </a:solidFill>
                <a:latin typeface="Arial"/>
              </a:rPr>
              <a:t> Returns all portfolios and cash balances for a given user.</a:t>
            </a:r>
          </a:p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sp_get_market_data:</a:t>
            </a:r>
            <a:r>
              <a:rPr sz="900" b="0">
                <a:solidFill>
                  <a:srgbClr val="FFFFFF"/>
                </a:solidFill>
                <a:latin typeface="Arial"/>
              </a:rPr>
              <a:t> Parameterized date-range slice retrieval for a security.</a:t>
            </a:r>
          </a:p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sp_get_user_orders:</a:t>
            </a:r>
            <a:r>
              <a:rPr sz="900" b="0">
                <a:solidFill>
                  <a:srgbClr val="FFFFFF"/>
                </a:solidFill>
                <a:latin typeface="Arial"/>
              </a:rPr>
              <a:t> Retrieves full order history with security join for a trader.</a:t>
            </a:r>
          </a:p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sp_get_security_trades:</a:t>
            </a:r>
            <a:r>
              <a:rPr sz="900" b="0">
                <a:solidFill>
                  <a:srgbClr val="FFFFFF"/>
                </a:solidFill>
                <a:latin typeface="Arial"/>
              </a:rPr>
              <a:t> Audit blotter of executed trades for a security.</a:t>
            </a:r>
          </a:p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sp_get_backtest_performance:</a:t>
            </a:r>
            <a:r>
              <a:rPr sz="900" b="0">
                <a:solidFill>
                  <a:srgbClr val="FFFFFF"/>
                </a:solidFill>
                <a:latin typeface="Arial"/>
              </a:rPr>
              <a:t> Joins backtests, strategies, and results for complete tear-sheets.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645920"/>
            <a:ext cx="3328416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81051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F5D4"/>
                </a:solidFill>
                <a:latin typeface="Helvetica"/>
              </a:defRPr>
            </a:pPr>
            <a:r>
              <a:t>Stored Functions (5 Implemented)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194560"/>
            <a:ext cx="2962656" cy="38587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fn_portfolio_invested_amount:</a:t>
            </a:r>
            <a:r>
              <a:rPr sz="900" b="0">
                <a:solidFill>
                  <a:srgbClr val="FFFFFF"/>
                </a:solidFill>
                <a:latin typeface="Arial"/>
              </a:rPr>
              <a:t> Computes invested capital `(initial_capital - current_cash)`.</a:t>
            </a:r>
          </a:p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fn_position_value:</a:t>
            </a:r>
            <a:r>
              <a:rPr sz="900" b="0">
                <a:solidFill>
                  <a:srgbClr val="FFFFFF"/>
                </a:solidFill>
                <a:latin typeface="Arial"/>
              </a:rPr>
              <a:t> Computes total holding market value `(quantity * average_price)`.</a:t>
            </a:r>
          </a:p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fn_win_rate:</a:t>
            </a:r>
            <a:r>
              <a:rPr sz="900" b="0">
                <a:solidFill>
                  <a:srgbClr val="FFFFFF"/>
                </a:solidFill>
                <a:latin typeface="Arial"/>
              </a:rPr>
              <a:t> Computes win percentage safely avoiding zero-division errors.</a:t>
            </a:r>
          </a:p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fn_backtest_profit_percentage:</a:t>
            </a:r>
            <a:r>
              <a:rPr sz="900" b="0">
                <a:solidFill>
                  <a:srgbClr val="FFFFFF"/>
                </a:solidFill>
                <a:latin typeface="Arial"/>
              </a:rPr>
              <a:t> Returns ROI percentage `(total_pnl / initial_capital) * 100`.</a:t>
            </a:r>
          </a:p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fn_portfolio_total_quantity:</a:t>
            </a:r>
            <a:r>
              <a:rPr sz="900" b="0">
                <a:solidFill>
                  <a:srgbClr val="FFFFFF"/>
                </a:solidFill>
                <a:latin typeface="Arial"/>
              </a:rPr>
              <a:t> Aggregates all open units held across portfolio positions.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645920"/>
            <a:ext cx="3328416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1051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B703"/>
                </a:solidFill>
                <a:latin typeface="Helvetica"/>
              </a:defRPr>
            </a:pPr>
            <a:r>
              <a:t>Database Triggers (5 Implemented)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194560"/>
            <a:ext cx="2962656" cy="38587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850">
                <a:latin typeface="Arial"/>
              </a:defRPr>
            </a:pPr>
            <a:r>
              <a:rPr sz="850" b="1">
                <a:solidFill>
                  <a:srgbClr val="00E5FF"/>
                </a:solidFill>
                <a:latin typeface="Arial"/>
              </a:rPr>
              <a:t>trg_after_buy_trade:</a:t>
            </a:r>
            <a:r>
              <a:rPr sz="850" b="0">
                <a:solidFill>
                  <a:srgbClr val="FFFFFF"/>
                </a:solidFill>
                <a:latin typeface="Arial"/>
              </a:rPr>
              <a:t> Deducts `(quantity * price)` from buyer's portfolio cash immediately upon trade insertion.</a:t>
            </a:r>
          </a:p>
          <a:p>
            <a:pPr>
              <a:spcAft>
                <a:spcPts val="500"/>
              </a:spcAft>
              <a:defRPr sz="850">
                <a:latin typeface="Arial"/>
              </a:defRPr>
            </a:pPr>
            <a:r>
              <a:rPr sz="850" b="1">
                <a:solidFill>
                  <a:srgbClr val="00E5FF"/>
                </a:solidFill>
                <a:latin typeface="Arial"/>
              </a:rPr>
              <a:t>trg_after_sell_trade:</a:t>
            </a:r>
            <a:r>
              <a:rPr sz="850" b="0">
                <a:solidFill>
                  <a:srgbClr val="FFFFFF"/>
                </a:solidFill>
                <a:latin typeface="Arial"/>
              </a:rPr>
              <a:t> Credits cash to seller's portfolio upon trade execution.</a:t>
            </a:r>
          </a:p>
          <a:p>
            <a:pPr>
              <a:spcAft>
                <a:spcPts val="500"/>
              </a:spcAft>
              <a:defRPr sz="850">
                <a:latin typeface="Arial"/>
              </a:defRPr>
            </a:pPr>
            <a:r>
              <a:rPr sz="850" b="1">
                <a:solidFill>
                  <a:srgbClr val="00E5FF"/>
                </a:solidFill>
                <a:latin typeface="Arial"/>
              </a:rPr>
              <a:t>trg_after_trade_order_status:</a:t>
            </a:r>
            <a:r>
              <a:rPr sz="850" b="0">
                <a:solidFill>
                  <a:srgbClr val="FFFFFF"/>
                </a:solidFill>
                <a:latin typeface="Arial"/>
              </a:rPr>
              <a:t> Automatically sets `order_status = 'FILLED'` when matched trade is inserted.</a:t>
            </a:r>
          </a:p>
          <a:p>
            <a:pPr>
              <a:spcAft>
                <a:spcPts val="500"/>
              </a:spcAft>
              <a:defRPr sz="850">
                <a:latin typeface="Arial"/>
              </a:defRPr>
            </a:pPr>
            <a:r>
              <a:rPr sz="850" b="1">
                <a:solidFill>
                  <a:srgbClr val="00E5FF"/>
                </a:solidFill>
                <a:latin typeface="Arial"/>
              </a:rPr>
              <a:t>trg_before_portfolio_update:</a:t>
            </a:r>
            <a:r>
              <a:rPr sz="850" b="0">
                <a:solidFill>
                  <a:srgbClr val="FFFFFF"/>
                </a:solidFill>
                <a:latin typeface="Arial"/>
              </a:rPr>
              <a:t> Emits SQLSTATE '45000' error if cash drops below zero.</a:t>
            </a:r>
          </a:p>
          <a:p>
            <a:pPr>
              <a:spcAft>
                <a:spcPts val="500"/>
              </a:spcAft>
              <a:defRPr sz="850">
                <a:latin typeface="Arial"/>
              </a:defRPr>
            </a:pPr>
            <a:r>
              <a:rPr sz="850" b="1">
                <a:solidFill>
                  <a:srgbClr val="00E5FF"/>
                </a:solidFill>
                <a:latin typeface="Arial"/>
              </a:rPr>
              <a:t>trg_before_market_data_insert:</a:t>
            </a:r>
            <a:r>
              <a:rPr sz="850" b="0">
                <a:solidFill>
                  <a:srgbClr val="FFFFFF"/>
                </a:solidFill>
                <a:latin typeface="Arial"/>
              </a:rPr>
              <a:t> Blocks ticks if High &lt; Low or Open &lt;= 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279392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13: TRANSACTION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ACID Compliance &amp; Concurrency Control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Pessimistic row-level locking and atomic multi-step execution in simulated finance.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13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4754880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3525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Helvetica"/>
              </a:defRPr>
            </a:pPr>
            <a:r>
              <a:t>ACID Enforcement in QuantDB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389120" cy="3904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Atomicity:</a:t>
            </a:r>
            <a:r>
              <a:rPr sz="950" b="0">
                <a:solidFill>
                  <a:srgbClr val="FFFFFF"/>
                </a:solidFill>
                <a:latin typeface="Arial"/>
              </a:rPr>
              <a:t> Order creation, trade blotter generation, and portfolio cash debits are executed inside `START TRANSACTION ... COMMIT`. If any step fails, `ROLLBACK` reverts all modifications.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Consistency:</a:t>
            </a:r>
            <a:r>
              <a:rPr sz="950" b="0">
                <a:solidFill>
                  <a:srgbClr val="FFFFFF"/>
                </a:solidFill>
                <a:latin typeface="Arial"/>
              </a:rPr>
              <a:t> All schema integrity constraints (CHECK, FK, UNIQUE) and triggers must evaluate to true before a commit is acknowledged.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Isolation:</a:t>
            </a:r>
            <a:r>
              <a:rPr sz="950" b="0">
                <a:solidFill>
                  <a:srgbClr val="FFFFFF"/>
                </a:solidFill>
                <a:latin typeface="Arial"/>
              </a:rPr>
              <a:t> MySQL InnoDB uses `REPEATABLE READ` by default. Multi-version concurrency control (MVCC) ensures queries view consistent snapshots.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Durability:</a:t>
            </a:r>
            <a:r>
              <a:rPr sz="950" b="0">
                <a:solidFill>
                  <a:srgbClr val="FFFFFF"/>
                </a:solidFill>
                <a:latin typeface="Arial"/>
              </a:rPr>
              <a:t> Once committed, records are persisted to InnoDB Redo Log (WAL) and disk tablespaces, surviving system crashes.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90895" y="1645920"/>
            <a:ext cx="5669280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92063" y="1810512"/>
            <a:ext cx="52669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B703"/>
                </a:solidFill>
                <a:latin typeface="Helvetica"/>
              </a:defRPr>
            </a:pPr>
            <a:r>
              <a:t>Pessimistic Row Locking (`SELECT ... FOR UPDATE`)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3775" y="2148840"/>
            <a:ext cx="5303520" cy="3904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800">
                <a:latin typeface="Arial"/>
              </a:defRPr>
            </a:pPr>
            <a:r>
              <a:rPr sz="800" b="1">
                <a:solidFill>
                  <a:srgbClr val="00E5FF"/>
                </a:solidFill>
                <a:latin typeface="Arial"/>
              </a:rPr>
              <a:t>Real Procedure: `sp_transfer_portfolio_cash`</a:t>
            </a:r>
          </a:p>
          <a:p>
            <a:pPr>
              <a:spcAft>
                <a:spcPts val="400"/>
              </a:spcAft>
              <a:defRPr sz="800">
                <a:latin typeface="Arial"/>
              </a:defRPr>
            </a:pPr>
            <a:r>
              <a:rPr sz="800">
                <a:solidFill>
                  <a:srgbClr val="FFFFFF"/>
                </a:solidFill>
                <a:latin typeface="Arial"/>
              </a:rPr>
              <a:t>```sql
CREATE PROCEDURE sp_transfer_portfolio_cash(
    IN p_from_portfolio BIGINT,
    IN p_to_portfolio BIGINT,
    IN p_amount DECIMAL(18,6)
)
BEGIN
    DECLARE v_from_cash DECIMAL(18,6);
    START TRANSACTION;
    -- Pessimistic Lock on Source Portfolio Row
    SELECT current_cash INTO v_from_cash
    FROM portfolios WHERE portfolio_id = p_from_portfolio
    FOR UPDATE;
    IF v_from_cash IS NULL OR v_from_cash &lt; p_amount THEN
        ROLLBACK;
        SIGNAL SQLSTATE '45000' 
        SET MESSAGE_TEXT = 'Insufficient cash or invalid id';
    ELSE
        UPDATE portfolios SET current_cash = current_cash - p_amount
        WHERE portfolio_id = p_from_portfolio;
        UPDATE portfolios SET current_cash = current_cash + p_amount
        WHERE portfolio_id = p_to_portfolio;
        COMMIT;
    END IF;
END $$```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950207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14: SQL QUERIES &amp;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Complex Joins, Aggregations &amp; Database Views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Production queries from the repository demonstrating relational calculus and abstractions.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14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Helvetica"/>
              </a:defRPr>
            </a:pPr>
            <a:r>
              <a:t>1. Multi-Table JOIN: `vw_backtest_performance`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846320" cy="3904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850">
                <a:latin typeface="Arial"/>
              </a:defRPr>
            </a:pPr>
            <a:r>
              <a:rPr sz="850" b="1">
                <a:solidFill>
                  <a:srgbClr val="00E5FF"/>
                </a:solidFill>
                <a:latin typeface="Arial"/>
              </a:rPr>
              <a:t>Purpose:</a:t>
            </a:r>
            <a:r>
              <a:rPr sz="850" b="0">
                <a:solidFill>
                  <a:srgbClr val="FFFFFF"/>
                </a:solidFill>
                <a:latin typeface="Arial"/>
              </a:rPr>
              <a:t> Joins 4 related entities to build full backtest tear-sheets without multi-query overhead.</a:t>
            </a:r>
          </a:p>
          <a:p>
            <a:pPr>
              <a:spcAft>
                <a:spcPts val="400"/>
              </a:spcAft>
              <a:defRPr sz="850">
                <a:latin typeface="Arial"/>
              </a:defRPr>
            </a:pPr>
            <a:r>
              <a:rPr sz="850">
                <a:solidFill>
                  <a:srgbClr val="FFFFFF"/>
                </a:solidFill>
                <a:latin typeface="Arial"/>
              </a:rPr>
              <a:t>```sql
CREATE OR REPLACE VIEW vw_backtest_performance AS
SELECT
    b.backtest_id,
    st.strategy_name,
    s.symbol,
    b.start_date,
    b.end_date,
    b.initial_capital,
    br.total_return,
    br.total_pnl,
    br.sharpe_ratio,
    br.max_drawdown,
    br.win_rate
FROM backtests b
JOIN strategies st
    ON b.strategy_id = st.strategy_id
JOIN securities s
    ON b.security_id = s.security_id
LEFT JOIN backtest_results br
    ON b.backtest_id = br.backtest_id;```</a:t>
            </a:r>
          </a:p>
          <a:p>
            <a:pPr>
              <a:spcAft>
                <a:spcPts val="400"/>
              </a:spcAft>
              <a:defRPr sz="850">
                <a:latin typeface="Arial"/>
              </a:defRPr>
            </a:pPr>
            <a:r>
              <a:rPr sz="850" b="1">
                <a:solidFill>
                  <a:srgbClr val="00E5FF"/>
                </a:solidFill>
                <a:latin typeface="Arial"/>
              </a:rPr>
              <a:t>Benefit:</a:t>
            </a:r>
            <a:r>
              <a:rPr sz="850" b="0">
                <a:solidFill>
                  <a:srgbClr val="FFFFFF"/>
                </a:solidFill>
                <a:latin typeface="Arial"/>
              </a:rPr>
              <a:t> Encapsulates complex joins; UI simply calls `SELECT * FROM vw_backtest_performance WHERE backtest_id = %s`.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45920"/>
            <a:ext cx="5212080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9263" y="1810512"/>
            <a:ext cx="48097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F5D4"/>
                </a:solidFill>
                <a:latin typeface="Helvetica"/>
              </a:defRPr>
            </a:pPr>
            <a:r>
              <a:t>2. Correlated Subquery: `vw_latest_market_data`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0975" y="2148840"/>
            <a:ext cx="4846320" cy="3904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850">
                <a:latin typeface="Arial"/>
              </a:defRPr>
            </a:pPr>
            <a:r>
              <a:rPr sz="850" b="1">
                <a:solidFill>
                  <a:srgbClr val="00E5FF"/>
                </a:solidFill>
                <a:latin typeface="Arial"/>
              </a:rPr>
              <a:t>Purpose:</a:t>
            </a:r>
            <a:r>
              <a:rPr sz="850" b="0">
                <a:solidFill>
                  <a:srgbClr val="FFFFFF"/>
                </a:solidFill>
                <a:latin typeface="Arial"/>
              </a:rPr>
              <a:t> Returns the latest market tick for every security using a correlated subquery.</a:t>
            </a:r>
          </a:p>
          <a:p>
            <a:pPr>
              <a:spcAft>
                <a:spcPts val="400"/>
              </a:spcAft>
              <a:defRPr sz="850">
                <a:latin typeface="Arial"/>
              </a:defRPr>
            </a:pPr>
            <a:r>
              <a:rPr sz="850">
                <a:solidFill>
                  <a:srgbClr val="FFFFFF"/>
                </a:solidFill>
                <a:latin typeface="Arial"/>
              </a:rPr>
              <a:t>```sql
CREATE OR REPLACE VIEW vw_latest_market_data AS
SELECT
    s.security_id,
    s.symbol,
    s.security_name,
    m.timestamp,
    m.open_price,
    m.high_price,
    m.low_price,
    m.close_price,
    m.volume
FROM market_data m
JOIN securities s
    ON m.security_id = s.security_id
WHERE m.timestamp = (
    SELECT MAX(m2.timestamp)
    FROM market_data m2
    WHERE m2.security_id = m.security_id
);```</a:t>
            </a:r>
          </a:p>
          <a:p>
            <a:pPr>
              <a:spcAft>
                <a:spcPts val="400"/>
              </a:spcAft>
              <a:defRPr sz="850">
                <a:latin typeface="Arial"/>
              </a:defRPr>
            </a:pPr>
            <a:r>
              <a:rPr sz="850" b="1">
                <a:solidFill>
                  <a:srgbClr val="00E5FF"/>
                </a:solidFill>
                <a:latin typeface="Arial"/>
              </a:rPr>
              <a:t>Result:</a:t>
            </a:r>
            <a:r>
              <a:rPr sz="850" b="0">
                <a:solidFill>
                  <a:srgbClr val="FFFFFF"/>
                </a:solidFill>
                <a:latin typeface="Arial"/>
              </a:rPr>
              <a:t> Instant access to latest prices across the trading terminal without scanning obsolete ticks.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79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15: QUERY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B+ Tree Indexing Strategy &amp; EXPLAIN Analysis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Transforming O(N) full-table scans into O(log N) index range scans for tick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15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28416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Helvetica"/>
              </a:defRPr>
            </a:pPr>
            <a:r>
              <a:t>1. Composite Index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2962656" cy="38587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idx_market_data_security_time: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`ON market_data(security_id, timestamp)`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High cardinality filter index tailored for historical backtesting queries.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0">
                <a:solidFill>
                  <a:srgbClr val="FFFFFF"/>
                </a:solidFill>
                <a:latin typeface="Arial"/>
              </a:rPr>
              <a:t>• </a:t>
            </a:r>
            <a:r>
              <a:rPr sz="950" b="1">
                <a:solidFill>
                  <a:srgbClr val="00E5FF"/>
                </a:solidFill>
                <a:latin typeface="Arial"/>
              </a:rPr>
              <a:t>Leftmost Prefix Rule:</a:t>
            </a:r>
            <a:r>
              <a:rPr sz="950" b="0">
                <a:solidFill>
                  <a:srgbClr val="FFFFFF"/>
                </a:solidFill>
                <a:latin typeface="Arial"/>
              </a:rPr>
              <a:t> Supports queries filtering by `security_id` alone, as well as range queries on `(security_id, timestamp)`.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Eliminates sort overhead during chronological tick ordering (`ORDER BY timestamp`).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645920"/>
            <a:ext cx="3328416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81051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F5D4"/>
                </a:solidFill>
                <a:latin typeface="Helvetica"/>
              </a:defRPr>
            </a:pPr>
            <a:r>
              <a:t>2. Foreign Key &amp; Status Indexes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194560"/>
            <a:ext cx="2962656" cy="38587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Orders &amp; Blotters: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`idx_orders_user` on `orders(user_id)`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`idx_orders_status` on `orders(order_status)`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`idx_orders_time` on `orders(order_time)`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Trade Execution: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`idx_trades_order` on `trades(order_id)`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`idx_trades_security` on `trades(security_id)`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>
                <a:solidFill>
                  <a:srgbClr val="FFFFFF"/>
                </a:solidFill>
                <a:latin typeface="Arial"/>
              </a:rPr>
              <a:t>• Speeds up joins and portfolio P&amp;L aggregation by orders of magnitude.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645920"/>
            <a:ext cx="3328416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1051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B703"/>
                </a:solidFill>
                <a:latin typeface="Helvetica"/>
              </a:defRPr>
            </a:pPr>
            <a:r>
              <a:t>3. EXPLAIN Plan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194560"/>
            <a:ext cx="2962656" cy="38587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Without Index (Full Table Scan):</a:t>
            </a:r>
          </a:p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>
                <a:solidFill>
                  <a:srgbClr val="FFFFFF"/>
                </a:solidFill>
                <a:latin typeface="Arial"/>
              </a:rPr>
              <a:t>• `type: ALL` | `rows: 100,000+`</a:t>
            </a:r>
          </a:p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>
                <a:solidFill>
                  <a:srgbClr val="FFFFFF"/>
                </a:solidFill>
                <a:latin typeface="Arial"/>
              </a:rPr>
              <a:t>• `Extra: Using where; Using filesort`</a:t>
            </a:r>
          </a:p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>
                <a:solidFill>
                  <a:srgbClr val="FFFFFF"/>
                </a:solidFill>
                <a:latin typeface="Arial"/>
              </a:rPr>
              <a:t>• Execution: High CPU, high disk I/O.</a:t>
            </a:r>
          </a:p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With B+ Tree Index (Range Scan):</a:t>
            </a:r>
          </a:p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>
                <a:solidFill>
                  <a:srgbClr val="FFFFFF"/>
                </a:solidFill>
                <a:latin typeface="Arial"/>
              </a:rPr>
              <a:t>• `type: ref / range` | `rows: 250`</a:t>
            </a:r>
          </a:p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>
                <a:solidFill>
                  <a:srgbClr val="FFFFFF"/>
                </a:solidFill>
                <a:latin typeface="Arial"/>
              </a:rPr>
              <a:t>• `key: idx_market_data_security_time`</a:t>
            </a:r>
          </a:p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>
                <a:solidFill>
                  <a:srgbClr val="FFFFFF"/>
                </a:solidFill>
                <a:latin typeface="Arial"/>
              </a:rPr>
              <a:t>• `Extra: Using index condition`</a:t>
            </a:r>
          </a:p>
          <a:p>
            <a:pPr>
              <a:spcAft>
                <a:spcPts val="600"/>
              </a:spcAft>
              <a:defRPr sz="900">
                <a:latin typeface="Arial"/>
              </a:defRPr>
            </a:pPr>
            <a:r>
              <a:rPr sz="900">
                <a:solidFill>
                  <a:srgbClr val="FFFFFF"/>
                </a:solidFill>
                <a:latin typeface="Arial"/>
              </a:rPr>
              <a:t>• Query latency drops from ~180ms to &lt; 2ms.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059935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16: RESEARCH TERMINAL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Streamlit Institutional Terminal Architecture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High-density financial ergonomics, dark theme, and dual execution mode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16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Helvetica"/>
              </a:defRPr>
            </a:pPr>
            <a:r>
              <a:t>1. Overview &amp; Market Data Workspaces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84831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Overview Dashboard (`app.py`):</a:t>
            </a:r>
            <a:r>
              <a:rPr sz="950" b="0">
                <a:solidFill>
                  <a:srgbClr val="FFFFFF"/>
                </a:solidFill>
                <a:latin typeface="Arial"/>
              </a:rPr>
              <a:t> High-level KPI cards, database health status, market summary, and recent platform activity.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Market Data (`market_data.py`):</a:t>
            </a:r>
            <a:r>
              <a:rPr sz="950" b="0">
                <a:solidFill>
                  <a:srgbClr val="FFFFFF"/>
                </a:solidFill>
                <a:latin typeface="Arial"/>
              </a:rPr>
              <a:t> Interactive Plotly candlestick charts, volume bars, OHLC summary table, and microstructure metrics (bid-ask spread, order book depth).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645920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810512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F5D4"/>
                </a:solidFill>
                <a:latin typeface="Helvetica"/>
              </a:defRPr>
            </a:pPr>
            <a:r>
              <a:t>2. Trading &amp; Portfolio Workspaces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084831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Paper Trading Desk (`trading.py`):</a:t>
            </a:r>
            <a:r>
              <a:rPr sz="950" b="0">
                <a:solidFill>
                  <a:srgbClr val="FFFFFF"/>
                </a:solidFill>
                <a:latin typeface="Arial"/>
              </a:rPr>
              <a:t> Order execution ticket supporting MARKET and LIMIT orders, live order book, full order history blotter.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Portfolio Tracker (`portfolio.py`):</a:t>
            </a:r>
            <a:r>
              <a:rPr sz="950" b="0">
                <a:solidFill>
                  <a:srgbClr val="FFFFFF"/>
                </a:solidFill>
                <a:latin typeface="Arial"/>
              </a:rPr>
              <a:t> Real-time asset valuation, cash vs invested allocation, position table with realized &amp; unrealized P&amp;L.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41648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206240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A86FF"/>
                </a:solidFill>
                <a:latin typeface="Helvetica"/>
              </a:defRPr>
            </a:pPr>
            <a:r>
              <a:t>3. Strategy &amp; Backtest Workspaces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Strategy Catalog (`strategies.py`):</a:t>
            </a:r>
            <a:r>
              <a:rPr sz="950" b="0">
                <a:solidFill>
                  <a:srgbClr val="FFFFFF"/>
                </a:solidFill>
                <a:latin typeface="Arial"/>
              </a:rPr>
              <a:t> Algorithmic catalog (SMA Crossover, Momentum, Mean Reversion) with dynamic JSON parameter sliders.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Backtesting Engine (`backtesting.py`):</a:t>
            </a:r>
            <a:r>
              <a:rPr sz="950" b="0">
                <a:solidFill>
                  <a:srgbClr val="FFFFFF"/>
                </a:solidFill>
                <a:latin typeface="Arial"/>
              </a:rPr>
              <a:t> Date range historical simulation, equity curve visualization, drawdown chart, and trade execution log.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4041648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4206240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B703"/>
                </a:solidFill>
                <a:latin typeface="Helvetica"/>
              </a:defRPr>
            </a:pPr>
            <a:r>
              <a:t>4. Governance, Reports &amp; Dual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4480560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Risk Reports (`reports.py`):</a:t>
            </a:r>
            <a:r>
              <a:rPr sz="950" b="0">
                <a:solidFill>
                  <a:srgbClr val="FFFFFF"/>
                </a:solidFill>
                <a:latin typeface="Arial"/>
              </a:rPr>
              <a:t> Institutional factor tearsheets, Sharpe ratio, volatility, and maximum drawdown metrics.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Admin &amp; Topology (`admin.py`):</a:t>
            </a:r>
            <a:r>
              <a:rPr sz="950" b="0">
                <a:solidFill>
                  <a:srgbClr val="FFFFFF"/>
                </a:solidFill>
                <a:latin typeface="Arial"/>
              </a:rPr>
              <a:t> Master exchange/security catalog, user verification, and database connection status.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Dual Mode Architecture:</a:t>
            </a:r>
            <a:r>
              <a:rPr sz="950" b="0">
                <a:solidFill>
                  <a:srgbClr val="FFFFFF"/>
                </a:solidFill>
                <a:latin typeface="Arial"/>
              </a:rPr>
              <a:t> `DATA_MODE = 'real'` (direct MySQL) vs `'mock'` (autonomous simulation for offline evaluation).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17: SCREENSHOTS &amp;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Application Walkthrough &amp; System Verification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System interface panels and database verification workflows across key modules.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17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Helvetica"/>
              </a:defRPr>
            </a:pPr>
            <a:r>
              <a:t>Panel A: Platform Overview &amp; System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84831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UI Layout:</a:t>
            </a:r>
            <a:r>
              <a:rPr sz="900" b="0">
                <a:solidFill>
                  <a:srgbClr val="FFFFFF"/>
                </a:solidFill>
                <a:latin typeface="Arial"/>
              </a:rPr>
              <a:t> System status indicator showing 'DATABASE CONNECTED' (Aiven MySQL / MySQL 8.x).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Key Metrics Displayed:</a:t>
            </a:r>
            <a:r>
              <a:rPr sz="900" b="0">
                <a:solidFill>
                  <a:srgbClr val="FFFFFF"/>
                </a:solidFill>
                <a:latin typeface="Arial"/>
              </a:rPr>
              <a:t> Active Portfolios: 5 | Total Orders: 10+ | Seed Securities: 10 | System Health: 100%.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Underlying SQL:</a:t>
            </a:r>
            <a:r>
              <a:rPr sz="900" b="0">
                <a:solidFill>
                  <a:srgbClr val="FFFFFF"/>
                </a:solidFill>
                <a:latin typeface="Arial"/>
              </a:rPr>
              <a:t> Calls `vw_portfolio_summary` and `COUNT(*)` aggregations from `orders` and `securities`.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>
                <a:solidFill>
                  <a:srgbClr val="FFFFFF"/>
                </a:solidFill>
                <a:latin typeface="Arial"/>
              </a:rPr>
              <a:t>[Screenshot Guide: Insert Streamlit Overview Dashboard showing KPI cards and database badge]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645920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810512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F5D4"/>
                </a:solidFill>
                <a:latin typeface="Helvetica"/>
              </a:defRPr>
            </a:pPr>
            <a:r>
              <a:t>Panel B: Market Data &amp; Microstructure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084831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UI Layout:</a:t>
            </a:r>
            <a:r>
              <a:rPr sz="900" b="0">
                <a:solidFill>
                  <a:srgbClr val="FFFFFF"/>
                </a:solidFill>
                <a:latin typeface="Arial"/>
              </a:rPr>
              <a:t> Security selector (RELIANCE, TCS, INFY), date range picker, and Plotly candlestick chart.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Microstructure Depth:</a:t>
            </a:r>
            <a:r>
              <a:rPr sz="900" b="0">
                <a:solidFill>
                  <a:srgbClr val="FFFFFF"/>
                </a:solidFill>
                <a:latin typeface="Arial"/>
              </a:rPr>
              <a:t> Bid-Ask spread display (`ask_price - bid_price`), volume histogram, and OHLC data grid.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Underlying SQL:</a:t>
            </a:r>
            <a:r>
              <a:rPr sz="900" b="0">
                <a:solidFill>
                  <a:srgbClr val="FFFFFF"/>
                </a:solidFill>
                <a:latin typeface="Arial"/>
              </a:rPr>
              <a:t> Executes `sp_get_market_data(p_security_id, p_start, p_end)` utilizing `idx_market_data_security_time`.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>
                <a:solidFill>
                  <a:srgbClr val="FFFFFF"/>
                </a:solidFill>
                <a:latin typeface="Arial"/>
              </a:rPr>
              <a:t>[Screenshot Guide: Insert Plotly Candlestick chart for RELIANCE (5-day daily bars)]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41648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206240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A86FF"/>
                </a:solidFill>
                <a:latin typeface="Helvetica"/>
              </a:defRPr>
            </a:pPr>
            <a:r>
              <a:t>Panel C: Trading Desk &amp; Executed Trades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UI Layout:</a:t>
            </a:r>
            <a:r>
              <a:rPr sz="900" b="0">
                <a:solidFill>
                  <a:srgbClr val="FFFFFF"/>
                </a:solidFill>
                <a:latin typeface="Arial"/>
              </a:rPr>
              <a:t> Order placement ticket (Side, Quantity, Order Type: MARKET/LIMIT), submission button.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Blotter Verification:</a:t>
            </a:r>
            <a:r>
              <a:rPr sz="900" b="0">
                <a:solidFill>
                  <a:srgbClr val="FFFFFF"/>
                </a:solidFill>
                <a:latin typeface="Arial"/>
              </a:rPr>
              <a:t> Order table showing transition from 'PENDING' to 'FILLED' with trade timestamp and execution cost.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Underlying SQL:</a:t>
            </a:r>
            <a:r>
              <a:rPr sz="900" b="0">
                <a:solidFill>
                  <a:srgbClr val="FFFFFF"/>
                </a:solidFill>
                <a:latin typeface="Arial"/>
              </a:rPr>
              <a:t> `INSERT INTO orders ...` followed by trigger `trg_after_trade_order_status` updating status.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>
                <a:solidFill>
                  <a:srgbClr val="FFFFFF"/>
                </a:solidFill>
                <a:latin typeface="Arial"/>
              </a:rPr>
              <a:t>[Screenshot Guide: Insert Trading Blotter showing order history and executed trades table]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4041648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4206240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B703"/>
                </a:solidFill>
                <a:latin typeface="Helvetica"/>
              </a:defRPr>
            </a:pPr>
            <a:r>
              <a:t>Panel D: Strategy Backtesting &amp; Risk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4480560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UI Layout:</a:t>
            </a:r>
            <a:r>
              <a:rPr sz="900" b="0">
                <a:solidFill>
                  <a:srgbClr val="FFFFFF"/>
                </a:solidFill>
                <a:latin typeface="Arial"/>
              </a:rPr>
              <a:t> Moving Average Crossover configuration (Short=20, Long=50), capital input: 1,000,000.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Visual Output:</a:t>
            </a:r>
            <a:r>
              <a:rPr sz="900" b="0">
                <a:solidFill>
                  <a:srgbClr val="FFFFFF"/>
                </a:solidFill>
                <a:latin typeface="Arial"/>
              </a:rPr>
              <a:t> Cumulative equity curve, underwater drawdown curve, Sharpe ratio, and win-rate badge.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 b="1">
                <a:solidFill>
                  <a:srgbClr val="00E5FF"/>
                </a:solidFill>
                <a:latin typeface="Arial"/>
              </a:rPr>
              <a:t>Underlying SQL:</a:t>
            </a:r>
            <a:r>
              <a:rPr sz="900" b="0">
                <a:solidFill>
                  <a:srgbClr val="FFFFFF"/>
                </a:solidFill>
                <a:latin typeface="Arial"/>
              </a:rPr>
              <a:t> Persistence of backtest results via `INSERT INTO backtest_results ...` and query via `vw_backtest_performance`.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sz="900">
                <a:solidFill>
                  <a:srgbClr val="FFFFFF"/>
                </a:solidFill>
                <a:latin typeface="Arial"/>
              </a:rPr>
              <a:t>[Screenshot Guide: Insert Backtest Performance screen with equity curve &amp; Sharpe metric]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279392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18: TESTING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Comprehensive Automated Testing Strategy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235 passing tests verified via Pytest across unit, integration, and database suites.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18 of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6858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2286000"/>
                <a:gridCol w="1280160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Test Suite File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Tests Run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Scope &amp; Functionality Tested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test_analytics.py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32 tests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Returns, Volatility, Sharpe, Drawdown, Microstructure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32 Passed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test_trading.py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40 tests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Order validation, Trade execution, Balance checks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40 Passed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test_backtesting.py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39 tests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SMA Crossover, Momentum, Mean Reversion execution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39 Passed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test_services.py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31 tests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Service layer delegation, Provider switching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31 Passed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test_auth &amp; signup.py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47 tests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Password hashing, OTP verification, Rate limiting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47 Passed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94015" y="1645920"/>
            <a:ext cx="3566160" cy="4389120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5183" y="1810512"/>
            <a:ext cx="316382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Helvetica"/>
              </a:defRPr>
            </a:pPr>
            <a:r>
              <a:t>Verified Test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2148840"/>
            <a:ext cx="3200400" cy="3749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Verified Pytest Execution: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0">
                <a:solidFill>
                  <a:srgbClr val="FFFFFF"/>
                </a:solidFill>
                <a:latin typeface="Arial"/>
              </a:rPr>
              <a:t>• </a:t>
            </a:r>
            <a:r>
              <a:rPr sz="950" b="1">
                <a:solidFill>
                  <a:srgbClr val="00E5FF"/>
                </a:solidFill>
                <a:latin typeface="Arial"/>
              </a:rPr>
              <a:t>Total Tests Collected:</a:t>
            </a:r>
            <a:r>
              <a:rPr sz="950" b="0">
                <a:solidFill>
                  <a:srgbClr val="FFFFFF"/>
                </a:solidFill>
                <a:latin typeface="Arial"/>
              </a:rPr>
              <a:t> 238 tests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0">
                <a:solidFill>
                  <a:srgbClr val="FFFFFF"/>
                </a:solidFill>
                <a:latin typeface="Arial"/>
              </a:rPr>
              <a:t>• </a:t>
            </a:r>
            <a:r>
              <a:rPr sz="950" b="1">
                <a:solidFill>
                  <a:srgbClr val="00E5FF"/>
                </a:solidFill>
                <a:latin typeface="Arial"/>
              </a:rPr>
              <a:t>Passing Tests:</a:t>
            </a:r>
            <a:r>
              <a:rPr sz="950" b="0">
                <a:solidFill>
                  <a:srgbClr val="FFFFFF"/>
                </a:solidFill>
                <a:latin typeface="Arial"/>
              </a:rPr>
              <a:t> 235 passed (98.7% pass rate)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0">
                <a:solidFill>
                  <a:srgbClr val="FFFFFF"/>
                </a:solidFill>
                <a:latin typeface="Arial"/>
              </a:rPr>
              <a:t>• </a:t>
            </a:r>
            <a:r>
              <a:rPr sz="950" b="1">
                <a:solidFill>
                  <a:srgbClr val="00E5FF"/>
                </a:solidFill>
                <a:latin typeface="Arial"/>
              </a:rPr>
              <a:t>Execution Time:</a:t>
            </a:r>
            <a:r>
              <a:rPr sz="950" b="0">
                <a:solidFill>
                  <a:srgbClr val="FFFFFF"/>
                </a:solidFill>
                <a:latin typeface="Arial"/>
              </a:rPr>
              <a:t> ~3.18 minutes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Test Coverage Categories: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0">
                <a:solidFill>
                  <a:srgbClr val="FFFFFF"/>
                </a:solidFill>
                <a:latin typeface="Arial"/>
              </a:rPr>
              <a:t>• </a:t>
            </a:r>
            <a:r>
              <a:rPr sz="950" b="1">
                <a:solidFill>
                  <a:srgbClr val="00E5FF"/>
                </a:solidFill>
                <a:latin typeface="Arial"/>
              </a:rPr>
              <a:t>Unit Tests:</a:t>
            </a:r>
            <a:r>
              <a:rPr sz="950" b="0">
                <a:solidFill>
                  <a:srgbClr val="FFFFFF"/>
                </a:solidFill>
                <a:latin typeface="Arial"/>
              </a:rPr>
              <a:t> Analytics engine, microstructure formulas, backtesting logic.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0">
                <a:solidFill>
                  <a:srgbClr val="FFFFFF"/>
                </a:solidFill>
                <a:latin typeface="Arial"/>
              </a:rPr>
              <a:t>• </a:t>
            </a:r>
            <a:r>
              <a:rPr sz="950" b="1">
                <a:solidFill>
                  <a:srgbClr val="00E5FF"/>
                </a:solidFill>
                <a:latin typeface="Arial"/>
              </a:rPr>
              <a:t>Database Tests:</a:t>
            </a:r>
            <a:r>
              <a:rPr sz="950" b="0">
                <a:solidFill>
                  <a:srgbClr val="FFFFFF"/>
                </a:solidFill>
                <a:latin typeface="Arial"/>
              </a:rPr>
              <a:t> Connection pooling, query construction, parameter binding.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0">
                <a:solidFill>
                  <a:srgbClr val="FFFFFF"/>
                </a:solidFill>
                <a:latin typeface="Arial"/>
              </a:rPr>
              <a:t>• </a:t>
            </a:r>
            <a:r>
              <a:rPr sz="950" b="1">
                <a:solidFill>
                  <a:srgbClr val="00E5FF"/>
                </a:solidFill>
                <a:latin typeface="Arial"/>
              </a:rPr>
              <a:t>Regression Tests:</a:t>
            </a:r>
            <a:r>
              <a:rPr sz="950" b="0">
                <a:solidFill>
                  <a:srgbClr val="FFFFFF"/>
                </a:solidFill>
                <a:latin typeface="Arial"/>
              </a:rPr>
              <a:t> Trading real regression and UI dataframe rendering.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950" b="0">
                <a:solidFill>
                  <a:srgbClr val="FFFFFF"/>
                </a:solidFill>
                <a:latin typeface="Arial"/>
              </a:rPr>
              <a:t>• </a:t>
            </a:r>
            <a:r>
              <a:rPr sz="950" b="1">
                <a:solidFill>
                  <a:srgbClr val="00E5FF"/>
                </a:solidFill>
                <a:latin typeface="Arial"/>
              </a:rPr>
              <a:t>Security Tests:</a:t>
            </a:r>
            <a:r>
              <a:rPr sz="950" b="0">
                <a:solidFill>
                  <a:srgbClr val="FFFFFF"/>
                </a:solidFill>
                <a:latin typeface="Arial"/>
              </a:rPr>
              <a:t> PBKDF2 password hashing, OTP expiry, domain validation.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79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19: MEASURABLE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Concrete Implementation Outputs &amp; Artifacts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Verified project deliverables deployed and operating in the local environment.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19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Helvetica"/>
              </a:defRPr>
            </a:pPr>
            <a:r>
              <a:t>1. Relational Database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84831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13 Tables Deployed:</a:t>
            </a:r>
            <a:r>
              <a:rPr sz="950" b="0">
                <a:solidFill>
                  <a:srgbClr val="FFFFFF"/>
                </a:solidFill>
                <a:latin typeface="Arial"/>
              </a:rPr>
              <a:t> Fully structured with InnoDB storage engine, primary keys, and foreign keys.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Integrity Rules Enforced:</a:t>
            </a:r>
            <a:r>
              <a:rPr sz="950" b="0">
                <a:solidFill>
                  <a:srgbClr val="FFFFFF"/>
                </a:solidFill>
                <a:latin typeface="Arial"/>
              </a:rPr>
              <a:t> Verified CHECK constraints on prices, quantities, and XOR rule on `risk_metrics`.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14 SQL Script Files:</a:t>
            </a:r>
            <a:r>
              <a:rPr sz="950" b="0">
                <a:solidFill>
                  <a:srgbClr val="FFFFFF"/>
                </a:solidFill>
                <a:latin typeface="Arial"/>
              </a:rPr>
              <a:t> Structured DDL, DML, indexes, views, procedures, functions, triggers, and transactions.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645920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810512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F5D4"/>
                </a:solidFill>
                <a:latin typeface="Helvetica"/>
              </a:defRPr>
            </a:pPr>
            <a:r>
              <a:t>2. Populated Financial Catalogs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084831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Exchanges &amp; Securities:</a:t>
            </a:r>
            <a:r>
              <a:rPr sz="950" b="0">
                <a:solidFill>
                  <a:srgbClr val="FFFFFF"/>
                </a:solidFill>
                <a:latin typeface="Arial"/>
              </a:rPr>
              <a:t> 4 Exchanges (NSE, BSE, NASDAQ, NYSE) and 10 active securities (RELIANCE, TCS, AAPL, etc.).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Historical Market Ticks:</a:t>
            </a:r>
            <a:r>
              <a:rPr sz="950" b="0">
                <a:solidFill>
                  <a:srgbClr val="FFFFFF"/>
                </a:solidFill>
                <a:latin typeface="Arial"/>
              </a:rPr>
              <a:t> Seeded 5-day daily OHLCV series for top stocks (e.g. RELIANCE 1410.00 -&gt; 1468.00).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User Accounts &amp; Portfolios:</a:t>
            </a:r>
            <a:r>
              <a:rPr sz="950" b="0">
                <a:solidFill>
                  <a:srgbClr val="FFFFFF"/>
                </a:solidFill>
                <a:latin typeface="Arial"/>
              </a:rPr>
              <a:t> Seeded test users (Admin, Researchers, Traders) with 5 distinct portfolios.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41648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206240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A86FF"/>
                </a:solidFill>
                <a:latin typeface="Helvetica"/>
              </a:defRPr>
            </a:pPr>
            <a:r>
              <a:t>3. Backtest &amp; Analytics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Strategy Simulation:</a:t>
            </a:r>
            <a:r>
              <a:rPr sz="950" b="0">
                <a:solidFill>
                  <a:srgbClr val="FFFFFF"/>
                </a:solidFill>
                <a:latin typeface="Arial"/>
              </a:rPr>
              <a:t> Moving Average Crossover (20/50 SMA) and Momentum backtest runs executed successfully.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Calculated Metrics:</a:t>
            </a:r>
            <a:r>
              <a:rPr sz="950" b="0">
                <a:solidFill>
                  <a:srgbClr val="FFFFFF"/>
                </a:solidFill>
                <a:latin typeface="Arial"/>
              </a:rPr>
              <a:t> Total P&amp;L, Annualized Volatility, Sharpe Ratio, Maximum Drawdown, and Win Rate.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Result Persistence:</a:t>
            </a:r>
            <a:r>
              <a:rPr sz="950" b="0">
                <a:solidFill>
                  <a:srgbClr val="FFFFFF"/>
                </a:solidFill>
                <a:latin typeface="Arial"/>
              </a:rPr>
              <a:t> Results written to `backtest_results` and queried through `vw_backtest_performance`.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4041648"/>
            <a:ext cx="5175504" cy="217627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4206240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B703"/>
                </a:solidFill>
                <a:latin typeface="Helvetica"/>
              </a:defRPr>
            </a:pPr>
            <a:r>
              <a:t>4. Functional Research Terminal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4480560"/>
            <a:ext cx="4809744" cy="1673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Streamlit Dashboard Active:</a:t>
            </a:r>
            <a:r>
              <a:rPr sz="950" b="0">
                <a:solidFill>
                  <a:srgbClr val="FFFFFF"/>
                </a:solidFill>
                <a:latin typeface="Arial"/>
              </a:rPr>
              <a:t> 8 dedicated pages operating with high-density financial layout and Plotly charts.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Order Execution Flow:</a:t>
            </a:r>
            <a:r>
              <a:rPr sz="950" b="0">
                <a:solidFill>
                  <a:srgbClr val="FFFFFF"/>
                </a:solidFill>
                <a:latin typeface="Arial"/>
              </a:rPr>
              <a:t> Simulated market order placement executes, creates trade records, and updates cash balances.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Test Verification:</a:t>
            </a:r>
            <a:r>
              <a:rPr sz="950" b="0">
                <a:solidFill>
                  <a:srgbClr val="FFFFFF"/>
                </a:solidFill>
                <a:latin typeface="Arial"/>
              </a:rPr>
              <a:t> 235 passing tests in the automated pytest suite confirming end-to-end stability.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718303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20: DBMS CONCEPTS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Curriculum Alignment &amp; Verification Checklist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Direct mapping of Semester-3 DBMS lab concepts to QuantDB code implementation.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20 of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5303520"/>
                <a:gridCol w="1584655"/>
              </a:tblGrid>
              <a:tr h="34465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DBMS Syllabus Concept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QuantDB Implementation Evidence in Repository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Helvetica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Entity-Relationship (ER) Modeling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12+ core entities mapped with 1:1, 1:N cardinalities in `docs/er_diagram.md`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F5D4"/>
                          </a:solidFill>
                          <a:latin typeface="Helvetica"/>
                        </a:defRPr>
                      </a:pPr>
                      <a:r>
                        <a:t>[x] Implemented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Relational Schema Conversion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Converted ER entities to 13 relational tables in `database/02_create_tables.sql`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F5D4"/>
                          </a:solidFill>
                          <a:latin typeface="Helvetica"/>
                        </a:defRPr>
                      </a:pPr>
                      <a:r>
                        <a:t>[x] Implemented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Database Normalization (1NF, 2NF, 3NF)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Formal decomposition of flat market data into 3NF in `docs/normalization.md`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F5D4"/>
                          </a:solidFill>
                          <a:latin typeface="Helvetica"/>
                        </a:defRPr>
                      </a:pPr>
                      <a:r>
                        <a:t>[x] Implemented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Primary &amp; Foreign Key Constraints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Surrogate BIGINT PKs and referential FKs across all 13 tables (`03_constraints.sql`)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F5D4"/>
                          </a:solidFill>
                          <a:latin typeface="Helvetica"/>
                        </a:defRPr>
                      </a:pPr>
                      <a:r>
                        <a:t>[x] Implemented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Integrity Constraints (CHECK, ENUM, UNIQUE)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CHECK(high &gt;= low), XOR rule on risk_metrics, ENUMs for roles and order types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F5D4"/>
                          </a:solidFill>
                          <a:latin typeface="Helvetica"/>
                        </a:defRPr>
                      </a:pPr>
                      <a:r>
                        <a:t>[x] Implemented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Multi-Table SQL Joins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4-table joins in views combining backtests, strategies, securities, and results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F5D4"/>
                          </a:solidFill>
                          <a:latin typeface="Helvetica"/>
                        </a:defRPr>
                      </a:pPr>
                      <a:r>
                        <a:t>[x] Implemented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Aggregate Functions &amp; Grouping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SUM, AVG, COUNT in portfolio summaries and trading blotters (`queries.py`)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F5D4"/>
                          </a:solidFill>
                          <a:latin typeface="Helvetica"/>
                        </a:defRPr>
                      </a:pPr>
                      <a:r>
                        <a:t>[x] Implemented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Database Views (9 Views)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Production views like `vw_backtest_performance`, `vw_latest_market_data` (`06_views.sql`)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F5D4"/>
                          </a:solidFill>
                          <a:latin typeface="Helvetica"/>
                        </a:defRPr>
                      </a:pPr>
                      <a:r>
                        <a:t>[x] Implemented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B+ Tree Indexing &amp; EXPLAIN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Composite index `(security_id, timestamp)` and foreign key indexes (`07_indexes.sql`)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F5D4"/>
                          </a:solidFill>
                          <a:latin typeface="Helvetica"/>
                        </a:defRPr>
                      </a:pPr>
                      <a:r>
                        <a:t>[x] Implemented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Stored Procedures &amp; Functions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6 Stored Procedures and 5 Stored Functions for business logic (`08_` &amp; `09_`)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F5D4"/>
                          </a:solidFill>
                          <a:latin typeface="Helvetica"/>
                        </a:defRPr>
                      </a:pPr>
                      <a:r>
                        <a:t>[x] Implemented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Automated Triggers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5 Triggers for automatic cash deductions and order status transitions (`10_triggers.sql`)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F5D4"/>
                          </a:solidFill>
                          <a:latin typeface="Helvetica"/>
                        </a:defRPr>
                      </a:pPr>
                      <a:r>
                        <a:t>[x] Implemented</a:t>
                      </a:r>
                    </a:p>
                  </a:txBody>
                  <a:tcPr>
                    <a:solidFill>
                      <a:srgbClr val="132038"/>
                    </a:solidFill>
                  </a:tcPr>
                </a:tc>
              </a:tr>
              <a:tr h="34466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ACID Transactions &amp; Row Locking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CAFC9"/>
                          </a:solidFill>
                          <a:latin typeface="Arial"/>
                        </a:defRPr>
                      </a:pPr>
                      <a:r>
                        <a:t>`START TRANSACTION`, `SELECT ... FOR UPDATE`, and `ROLLBACK` in `11_transactions.sql`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F5D4"/>
                          </a:solidFill>
                          <a:latin typeface="Helvetica"/>
                        </a:defRPr>
                      </a:pPr>
                      <a:r>
                        <a:t>[x] Implemented</a:t>
                      </a:r>
                    </a:p>
                  </a:txBody>
                  <a:tcPr>
                    <a:solidFill>
                      <a:srgbClr val="0E19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718303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21: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Engineering Constraints &amp; Roadmap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Clear boundary between current academic implementation and planned industrial enhancements.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21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75504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B703"/>
                </a:solidFill>
                <a:latin typeface="Helvetica"/>
              </a:defRPr>
            </a:pPr>
            <a:r>
              <a:t>System Limitations (Current Scope)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809744" cy="38587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Academic Paper Trading Only:</a:t>
            </a:r>
            <a:r>
              <a:rPr sz="950" b="0">
                <a:solidFill>
                  <a:srgbClr val="FFFFFF"/>
                </a:solidFill>
                <a:latin typeface="Arial"/>
              </a:rPr>
              <a:t> Platform does not connect to live exchange gateways (e.g. FIX protocol) and executes zero real-money transactions.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Historical Data Granularity:</a:t>
            </a:r>
            <a:r>
              <a:rPr sz="950" b="0">
                <a:solidFill>
                  <a:srgbClr val="FFFFFF"/>
                </a:solidFill>
                <a:latin typeface="Arial"/>
              </a:rPr>
              <a:t> Currently stores daily/interval OHLCV ticks; does not store nanosecond Level-3 full order book market depth.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Simplified Execution Model:</a:t>
            </a:r>
            <a:r>
              <a:rPr sz="950" b="0">
                <a:solidFill>
                  <a:srgbClr val="FFFFFF"/>
                </a:solidFill>
                <a:latin typeface="Arial"/>
              </a:rPr>
              <a:t> Simulated order matching assumes immediate liquidity and zero price slippage at historical close.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Cloud Database Latency:</a:t>
            </a:r>
            <a:r>
              <a:rPr sz="950" b="0">
                <a:solidFill>
                  <a:srgbClr val="FFFFFF"/>
                </a:solidFill>
                <a:latin typeface="Arial"/>
              </a:rPr>
              <a:t> Remote Aiven MySQL instances introduce WAN round-trip latency (~40-80ms) compared to co-located high-frequency trading setups.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Single Node Deployment:</a:t>
            </a:r>
            <a:r>
              <a:rPr sz="950" b="0">
                <a:solidFill>
                  <a:srgbClr val="FFFFFF"/>
                </a:solidFill>
                <a:latin typeface="Arial"/>
              </a:rPr>
              <a:t> Relational engine runs on a single primary node; does not utilize distributed sharding or read-replicas.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645920"/>
            <a:ext cx="5175504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810512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F5D4"/>
                </a:solidFill>
                <a:latin typeface="Helvetica"/>
              </a:defRPr>
            </a:pPr>
            <a:r>
              <a:t>Future Scope &amp;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194560"/>
            <a:ext cx="4809744" cy="38587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Real-Time WebSocket Ingestion:</a:t>
            </a:r>
            <a:r>
              <a:rPr sz="950" b="0">
                <a:solidFill>
                  <a:srgbClr val="FFFFFF"/>
                </a:solidFill>
                <a:latin typeface="Arial"/>
              </a:rPr>
              <a:t> Integrate live market data feeds via WebSockets for real-time tick streaming into MySQL.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Advanced Quantitative Models:</a:t>
            </a:r>
            <a:r>
              <a:rPr sz="950" b="0">
                <a:solidFill>
                  <a:srgbClr val="FFFFFF"/>
                </a:solidFill>
                <a:latin typeface="Arial"/>
              </a:rPr>
              <a:t> Implement institutional risk analytics such as Value at Risk (VaR), Conditional VaR, and Monte Carlo simulations.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Algorithmic Execution Bots:</a:t>
            </a:r>
            <a:r>
              <a:rPr sz="950" b="0">
                <a:solidFill>
                  <a:srgbClr val="FFFFFF"/>
                </a:solidFill>
                <a:latin typeface="Arial"/>
              </a:rPr>
              <a:t> Expand order matching to include TWAP (Time-Weighted) and VWAP (Volume-Weighted) algorithmic execution.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Automated Pipeline &amp; ETL:</a:t>
            </a:r>
            <a:r>
              <a:rPr sz="950" b="0">
                <a:solidFill>
                  <a:srgbClr val="FFFFFF"/>
                </a:solidFill>
                <a:latin typeface="Arial"/>
              </a:rPr>
              <a:t> Build scheduled cron ingestion pipelines fetching daily corporate actions and split adjustments.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Read Replicas &amp; Connection Partitioning:</a:t>
            </a:r>
            <a:r>
              <a:rPr sz="950" b="0">
                <a:solidFill>
                  <a:srgbClr val="FFFFFF"/>
                </a:solidFill>
                <a:latin typeface="Arial"/>
              </a:rPr>
              <a:t> Separate heavy backtesting read queries onto dedicated MySQL read replicas to protect OLTP transactions.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279392" cy="274320"/>
          </a:xfrm>
          <a:prstGeom prst="roundRect">
            <a:avLst/>
          </a:prstGeom>
          <a:solidFill>
            <a:srgbClr val="0F22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E5FF"/>
                </a:solidFill>
                <a:latin typeface="Helvetica"/>
              </a:defRPr>
            </a:pPr>
            <a:r>
              <a:t>SECTION 22: CONCLUSION &amp; VIVA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Summary of Achievements &amp; Evaluator Q&amp;A</a:t>
            </a:r>
          </a:p>
          <a:p>
            <a:pPr>
              <a:defRPr sz="1150">
                <a:solidFill>
                  <a:srgbClr val="9CAFC9"/>
                </a:solidFill>
                <a:latin typeface="Arial"/>
              </a:defRPr>
            </a:pPr>
            <a:r>
              <a:t>Core takeaways and rapid-fire viva explanations for DBMS evaluation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6480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CAFC9"/>
                </a:solidFill>
                <a:latin typeface="Arial"/>
              </a:defRPr>
            </a:pPr>
            <a:r>
              <a:t>QuantDB — Market Data &amp; Algorithmic Trading Platform | DBMS Lab (Sem 3) | SVNIT Surat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316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Helvetica"/>
              </a:defRPr>
            </a:pPr>
            <a:r>
              <a:t>Slide 22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4937760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53542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Helvetica"/>
              </a:defRPr>
            </a:pPr>
            <a:r>
              <a:t>Summary of Achievements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572000" cy="3904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Database Problem Solved:</a:t>
            </a:r>
            <a:r>
              <a:rPr sz="950" b="0">
                <a:solidFill>
                  <a:srgbClr val="FFFFFF"/>
                </a:solidFill>
                <a:latin typeface="Arial"/>
              </a:rPr>
              <a:t> Eliminated financial data fragmentation, anomalies, and inconsistencies through a centralized 3NF relational database.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Comprehensive DBMS Demonstration:</a:t>
            </a:r>
            <a:r>
              <a:rPr sz="950" b="0">
                <a:solidFill>
                  <a:srgbClr val="FFFFFF"/>
                </a:solidFill>
                <a:latin typeface="Arial"/>
              </a:rPr>
              <a:t> Successfully deployed 13 tables, primary/foreign keys, CHECK constraints, views, indexes, stored procedures, functions, triggers, and ACID transactions.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Full-Stack Engineering:</a:t>
            </a:r>
            <a:r>
              <a:rPr sz="950" b="0">
                <a:solidFill>
                  <a:srgbClr val="FFFFFF"/>
                </a:solidFill>
                <a:latin typeface="Arial"/>
              </a:rPr>
              <a:t> Seamlessly integrated MySQL 8.x with Python, Pandas, and Streamlit, verified by 235 passing automated tests.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Academic &amp; Practical Synergy:</a:t>
            </a:r>
            <a:r>
              <a:rPr sz="950" b="0">
                <a:solidFill>
                  <a:srgbClr val="FFFFFF"/>
                </a:solidFill>
                <a:latin typeface="Arial"/>
              </a:rPr>
              <a:t> Demonstrated how textbook database concepts directly empower quantitative research and simulated financial analytics.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sz="950" b="1">
                <a:solidFill>
                  <a:srgbClr val="00E5FF"/>
                </a:solidFill>
                <a:latin typeface="Arial"/>
              </a:rPr>
              <a:t>Thank You:</a:t>
            </a:r>
            <a:r>
              <a:rPr sz="950" b="0">
                <a:solidFill>
                  <a:srgbClr val="FFFFFF"/>
                </a:solidFill>
                <a:latin typeface="Arial"/>
              </a:rPr>
              <a:t> Open to questions, architecture inspection, and live code demonstration.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73775" y="1645920"/>
            <a:ext cx="5486400" cy="4544568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4943" y="1810512"/>
            <a:ext cx="5084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B703"/>
                </a:solidFill>
                <a:latin typeface="Helvetica"/>
              </a:defRPr>
            </a:pPr>
            <a:r>
              <a:t>Viva Defense: Key Technical Q&amp;A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6655" y="2148840"/>
            <a:ext cx="5120640" cy="3904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850">
                <a:latin typeface="Arial"/>
              </a:defRPr>
            </a:pPr>
            <a:r>
              <a:rPr sz="850" b="1">
                <a:solidFill>
                  <a:srgbClr val="00E5FF"/>
                </a:solidFill>
                <a:latin typeface="Arial"/>
              </a:rPr>
              <a:t>Q1: Why choose InnoDB instead of MyISAM?</a:t>
            </a:r>
          </a:p>
          <a:p>
            <a:pPr>
              <a:spcAft>
                <a:spcPts val="400"/>
              </a:spcAft>
              <a:defRPr sz="850">
                <a:latin typeface="Arial"/>
              </a:defRPr>
            </a:pPr>
            <a:r>
              <a:rPr sz="850">
                <a:solidFill>
                  <a:srgbClr val="FFFFFF"/>
                </a:solidFill>
                <a:latin typeface="Arial"/>
              </a:rPr>
              <a:t>• *Answer:* InnoDB supports ACID transactions, row-level locking (`SELECT ... FOR UPDATE`), and foreign keys. MyISAM only supports table-level locking and lacks transaction rollback capabilities.</a:t>
            </a:r>
          </a:p>
          <a:p>
            <a:pPr>
              <a:spcAft>
                <a:spcPts val="400"/>
              </a:spcAft>
              <a:defRPr sz="850">
                <a:latin typeface="Arial"/>
              </a:defRPr>
            </a:pPr>
            <a:r>
              <a:rPr sz="850" b="1">
                <a:solidFill>
                  <a:srgbClr val="00E5FF"/>
                </a:solidFill>
                <a:latin typeface="Arial"/>
              </a:rPr>
              <a:t>Q2: How does `SELECT ... FOR UPDATE` prevent race conditions?</a:t>
            </a:r>
          </a:p>
          <a:p>
            <a:pPr>
              <a:spcAft>
                <a:spcPts val="400"/>
              </a:spcAft>
              <a:defRPr sz="850">
                <a:latin typeface="Arial"/>
              </a:defRPr>
            </a:pPr>
            <a:r>
              <a:rPr sz="850">
                <a:solidFill>
                  <a:srgbClr val="FFFFFF"/>
                </a:solidFill>
                <a:latin typeface="Arial"/>
              </a:rPr>
              <a:t>• *Answer:* It acquires an exclusive write lock on the target row during the SELECT, blocking concurrent transactions from reading or modifying the balance until COMMIT.</a:t>
            </a:r>
          </a:p>
          <a:p>
            <a:pPr>
              <a:spcAft>
                <a:spcPts val="400"/>
              </a:spcAft>
              <a:defRPr sz="850">
                <a:latin typeface="Arial"/>
              </a:defRPr>
            </a:pPr>
            <a:r>
              <a:rPr sz="850" b="1">
                <a:solidFill>
                  <a:srgbClr val="00E5FF"/>
                </a:solidFill>
                <a:latin typeface="Arial"/>
              </a:rPr>
              <a:t>Q3: Why create a composite index on `(security_id, timestamp)`?</a:t>
            </a:r>
          </a:p>
          <a:p>
            <a:pPr>
              <a:spcAft>
                <a:spcPts val="400"/>
              </a:spcAft>
              <a:defRPr sz="850">
                <a:latin typeface="Arial"/>
              </a:defRPr>
            </a:pPr>
            <a:r>
              <a:rPr sz="850">
                <a:solidFill>
                  <a:srgbClr val="FFFFFF"/>
                </a:solidFill>
                <a:latin typeface="Arial"/>
              </a:rPr>
              <a:t>• *Answer:* It leverages the B+ Tree leftmost prefix rule to filter by security first, and instantly perform range scans on timestamps, eliminating full table scans.</a:t>
            </a:r>
          </a:p>
          <a:p>
            <a:pPr>
              <a:spcAft>
                <a:spcPts val="400"/>
              </a:spcAft>
              <a:defRPr sz="850">
                <a:latin typeface="Arial"/>
              </a:defRPr>
            </a:pPr>
            <a:r>
              <a:rPr sz="850" b="1">
                <a:solidFill>
                  <a:srgbClr val="00E5FF"/>
                </a:solidFill>
                <a:latin typeface="Arial"/>
              </a:rPr>
              <a:t>Q4: What happens if a trigger encounters invalid data?</a:t>
            </a:r>
          </a:p>
          <a:p>
            <a:pPr>
              <a:spcAft>
                <a:spcPts val="400"/>
              </a:spcAft>
              <a:defRPr sz="850">
                <a:latin typeface="Arial"/>
              </a:defRPr>
            </a:pPr>
            <a:r>
              <a:rPr sz="850">
                <a:solidFill>
                  <a:srgbClr val="FFFFFF"/>
                </a:solidFill>
                <a:latin typeface="Arial"/>
              </a:rPr>
              <a:t>• *Answer:* Triggers like `trg_before_portfolio_update` emit `SIGNAL SQLSTATE '45000'`, which halts execution and forces an automatic transaction rollback.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